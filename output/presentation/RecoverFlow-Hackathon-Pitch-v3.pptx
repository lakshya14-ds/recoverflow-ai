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e956dde6cd4545" /><Relationship Type="http://schemas.openxmlformats.org/officeDocument/2006/relationships/extended-properties" Target="/docProps/app.xml" Id="Rcde9775273704df0" /><Relationship Type="http://schemas.openxmlformats.org/officeDocument/2006/relationships/officeDocument" Target="/ppt/presentation.xml" Id="Rdb1be2a1f3734f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69f64d0f7e43e7"/>
  </p:sldMasterIdLst>
  <p:notesMasterIdLst>
    <p:notesMasterId xmlns:r="http://schemas.openxmlformats.org/officeDocument/2006/relationships" r:id="Rfeb5ec952d4f491c"/>
  </p:notesMasterIdLst>
  <p:sldIdLst>
    <p:sldId xmlns:r="http://schemas.openxmlformats.org/officeDocument/2006/relationships" id="256" r:id="Rd4537ca6a6404bde"/>
    <p:sldId xmlns:r="http://schemas.openxmlformats.org/officeDocument/2006/relationships" id="257" r:id="R4d624f0fab5f45c3"/>
    <p:sldId xmlns:r="http://schemas.openxmlformats.org/officeDocument/2006/relationships" id="258" r:id="R213cc3986be44bcc"/>
    <p:sldId xmlns:r="http://schemas.openxmlformats.org/officeDocument/2006/relationships" id="259" r:id="R3345c9bd7bdb4376"/>
    <p:sldId xmlns:r="http://schemas.openxmlformats.org/officeDocument/2006/relationships" id="260" r:id="R975c3160b9ae4d80"/>
    <p:sldId xmlns:r="http://schemas.openxmlformats.org/officeDocument/2006/relationships" id="261" r:id="R4188d010ee35462f"/>
    <p:sldId xmlns:r="http://schemas.openxmlformats.org/officeDocument/2006/relationships" id="262" r:id="Ra37315f7f4874b44"/>
    <p:sldId xmlns:r="http://schemas.openxmlformats.org/officeDocument/2006/relationships" id="263" r:id="Rcff85105b5944686"/>
    <p:sldId xmlns:r="http://schemas.openxmlformats.org/officeDocument/2006/relationships" id="264" r:id="R386256956f934f98"/>
    <p:sldId xmlns:r="http://schemas.openxmlformats.org/officeDocument/2006/relationships" id="265" r:id="R1b7dfd1458834b2c"/>
    <p:sldId xmlns:r="http://schemas.openxmlformats.org/officeDocument/2006/relationships" id="266" r:id="Rd8edfdc762d046b9"/>
    <p:sldId xmlns:r="http://schemas.openxmlformats.org/officeDocument/2006/relationships" id="267" r:id="Rb2e2c0d959ab4a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5e15a2a3c8464b" /><Relationship Type="http://schemas.openxmlformats.org/officeDocument/2006/relationships/slideMaster" Target="/ppt/slideMasters/slideMaster1.xml" Id="Rdd69f64d0f7e43e7" /><Relationship Type="http://schemas.openxmlformats.org/officeDocument/2006/relationships/notesMaster" Target="/ppt/notesMasters/notesMaster1.xml" Id="Rfeb5ec952d4f491c" /><Relationship Type="http://schemas.openxmlformats.org/officeDocument/2006/relationships/presProps" Target="/ppt/presProps.xml" Id="Rdacf367a275c44e5" /><Relationship Type="http://schemas.openxmlformats.org/officeDocument/2006/relationships/tableStyles" Target="/ppt/tableStyles.xml" Id="R1eb9925789ec4d16" /><Relationship Type="http://schemas.openxmlformats.org/officeDocument/2006/relationships/slide" Target="/ppt/slides/slide1.xml" Id="Rd4537ca6a6404bde" /><Relationship Type="http://schemas.openxmlformats.org/officeDocument/2006/relationships/slide" Target="/ppt/slides/slide2.xml" Id="R4d624f0fab5f45c3" /><Relationship Type="http://schemas.openxmlformats.org/officeDocument/2006/relationships/slide" Target="/ppt/slides/slide3.xml" Id="R213cc3986be44bcc" /><Relationship Type="http://schemas.openxmlformats.org/officeDocument/2006/relationships/slide" Target="/ppt/slides/slide4.xml" Id="R3345c9bd7bdb4376" /><Relationship Type="http://schemas.openxmlformats.org/officeDocument/2006/relationships/slide" Target="/ppt/slides/slide5.xml" Id="R975c3160b9ae4d80" /><Relationship Type="http://schemas.openxmlformats.org/officeDocument/2006/relationships/slide" Target="/ppt/slides/slide6.xml" Id="R4188d010ee35462f" /><Relationship Type="http://schemas.openxmlformats.org/officeDocument/2006/relationships/slide" Target="/ppt/slides/slide7.xml" Id="Ra37315f7f4874b44" /><Relationship Type="http://schemas.openxmlformats.org/officeDocument/2006/relationships/slide" Target="/ppt/slides/slide8.xml" Id="Rcff85105b5944686" /><Relationship Type="http://schemas.openxmlformats.org/officeDocument/2006/relationships/slide" Target="/ppt/slides/slide9.xml" Id="R386256956f934f98" /><Relationship Type="http://schemas.openxmlformats.org/officeDocument/2006/relationships/slide" Target="/ppt/slides/slide10.xml" Id="R1b7dfd1458834b2c" /><Relationship Type="http://schemas.openxmlformats.org/officeDocument/2006/relationships/slide" Target="/ppt/slides/slide11.xml" Id="Rd8edfdc762d046b9" /><Relationship Type="http://schemas.openxmlformats.org/officeDocument/2006/relationships/slide" Target="/ppt/slides/slide12.xml" Id="Rb2e2c0d959ab4a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532a8c646d4b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a653df57a5453d" /><Relationship Type="http://schemas.openxmlformats.org/officeDocument/2006/relationships/notesMaster" Target="/ppt/notesMasters/notesMaster1.xml" Id="Rf87cc22002ec4e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d20fc1cef84b11" /><Relationship Type="http://schemas.openxmlformats.org/officeDocument/2006/relationships/notesMaster" Target="/ppt/notesMasters/notesMaster1.xml" Id="Rd58376fa353b46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1a2a37ccf34a13" /><Relationship Type="http://schemas.openxmlformats.org/officeDocument/2006/relationships/notesMaster" Target="/ppt/notesMasters/notesMaster1.xml" Id="Rf0ab80455aef4a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913d8bd47e48e4" /><Relationship Type="http://schemas.openxmlformats.org/officeDocument/2006/relationships/notesMaster" Target="/ppt/notesMasters/notesMaster1.xml" Id="Reae3a4a35c514d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ad42bd68564cf0" /><Relationship Type="http://schemas.openxmlformats.org/officeDocument/2006/relationships/notesMaster" Target="/ppt/notesMasters/notesMaster1.xml" Id="R8d85efb25ecf46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d7cc5d63c1497f" /><Relationship Type="http://schemas.openxmlformats.org/officeDocument/2006/relationships/notesMaster" Target="/ppt/notesMasters/notesMaster1.xml" Id="Re145bf9afe6245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90e32e93d14896" /><Relationship Type="http://schemas.openxmlformats.org/officeDocument/2006/relationships/notesMaster" Target="/ppt/notesMasters/notesMaster1.xml" Id="R1c0af5a3917a4b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9eac67763846f7" /><Relationship Type="http://schemas.openxmlformats.org/officeDocument/2006/relationships/notesMaster" Target="/ppt/notesMasters/notesMaster1.xml" Id="Rfbb6a7f3bb8a4d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cc291e567a492c" /><Relationship Type="http://schemas.openxmlformats.org/officeDocument/2006/relationships/notesMaster" Target="/ppt/notesMasters/notesMaster1.xml" Id="Rdc0cdbfe3f1448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32bceb9dd1458e" /><Relationship Type="http://schemas.openxmlformats.org/officeDocument/2006/relationships/notesMaster" Target="/ppt/notesMasters/notesMaster1.xml" Id="R5b17884a48f44f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a65caa61d94093" /><Relationship Type="http://schemas.openxmlformats.org/officeDocument/2006/relationships/notesMaster" Target="/ppt/notesMasters/notesMaster1.xml" Id="R033e7dfd229b45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83b133527a4a5c" /><Relationship Type="http://schemas.openxmlformats.org/officeDocument/2006/relationships/notesMaster" Target="/ppt/notesMasters/notesMaster1.xml" Id="Rc5e7eb2968674a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abstract visual generated for this deck. Product claims and demo figures come from repository README, .codex/prompt.md, and scripts/demo_hero.py. Synthetic demo; no live customer messages or payments.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.codex/prompt.md sections 1 and 8.</a:t>
            </a:r>
          </a:p>
          <a:p xmlns:a="http://schemas.openxmlformats.org/drawingml/2006/main">
            <a:r>
              <a:t>Target customer is a pitch hypothesis, not a measured market size.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hero case, verified by scripts/seed_hero_case.py and successful local scripts/demo_hero.py run on 2026-10-24. The disputed ₹30,000 is a delivery shortfall in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scripts/demo_hero.py; frontend/app.js; app/services/receivables.py; app/services/negotiation.py.</a:t>
            </a:r>
          </a:p>
          <a:p xmlns:a="http://schemas.openxmlformats.org/drawingml/2006/main">
            <a:r>
              <a:t>Customer-facing sends and payments remain simulator/sandbox.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local seeded app at 127.0.0.1:8012 on 2026-10-24. Synthetic data. Source: frontend/app.js case view; scripts/seed_hero_case.py.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local seeded app. Synthetic documents and messages. Source: scripts/seed_hero_case.py; frontend/app.js. An unsupported claim is omitted from the balance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running seeded app. Functionality verified in offline scripts/demo_hero.py: Manual/Delegate transcript, exact-version approval, injection escalation. No live sends.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.codex/prompt.md sections 2, 3, 8; README.md; app/services/controlled_agent.py; app/services/negotiation.py. All payment and messaging descriptions refer to this demo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docs/PROJECT_ANALYSIS_AND_SYSTEM_STATE.md; app/services/; app/api/. Production roadmap is documented, not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Hero amounts are synthetic, from seed and demo scripts. Benefits are hypotheses. No measured ROI or recovery claim is made; proposed pilot KPIs are forward-looking.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docs/evaluation.md, freshly regenerated by successful scripts/demo_hero.py run on 2026-10-24. Counts are synthetic and do not establish customer recovery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Positioning source: .codex/prompt.md. Do not claim no autonomous receivables tools exist; competitors include HighRadius, Fazeshift and Stuut. This slide states the product niche and architecture, not novelty of autonomous collections in general.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9ffa8520e4b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6575be6f240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1d73b597448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06ad79b104a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249f2767b48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548e3ef834e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7284CB-E6BF-409D-AEFB-70E78507F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F8875C-A910-4151-B503-C5D3D7DF2B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445365-EF4A-4E0D-8E15-BF456EC2FA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E65E07-CFD5-4C86-90E4-7E9152449B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344003-D2AC-44BE-B8C2-2AB7176916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B37830-7811-4213-B5BD-86C7555806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471D77-1335-4F41-BC0C-E7541042CC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D9C9DB-7FAC-45D2-A33D-0D813FD33E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71C005-D484-43D3-BBA1-E75C7890DB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021A38-051D-41AD-8036-5941984BAF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0622397354cf7" /><Relationship Type="http://schemas.openxmlformats.org/officeDocument/2006/relationships/slideLayout" Target="/ppt/slideLayouts/slideLayout1.xml" Id="R74172a7083f8479f" /><Relationship Type="http://schemas.openxmlformats.org/officeDocument/2006/relationships/slideLayout" Target="/ppt/slideLayouts/slideLayout2.xml" Id="R9a109860c73d4422" /><Relationship Type="http://schemas.openxmlformats.org/officeDocument/2006/relationships/slideLayout" Target="/ppt/slideLayouts/slideLayout3.xml" Id="Rae15a25267644969" /><Relationship Type="http://schemas.openxmlformats.org/officeDocument/2006/relationships/slideLayout" Target="/ppt/slideLayouts/slideLayout4.xml" Id="Rc816061c1e4f4444" /><Relationship Type="http://schemas.openxmlformats.org/officeDocument/2006/relationships/slideLayout" Target="/ppt/slideLayouts/slideLayout5.xml" Id="R3994353d6ec04ac7" /><Relationship Type="http://schemas.openxmlformats.org/officeDocument/2006/relationships/slideLayout" Target="/ppt/slideLayouts/slideLayout6.xml" Id="R97d2179fde1742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172a7083f8479f"/>
    <p:sldLayoutId xmlns:r="http://schemas.openxmlformats.org/officeDocument/2006/relationships" id="2147483650" r:id="R9a109860c73d4422"/>
    <p:sldLayoutId xmlns:r="http://schemas.openxmlformats.org/officeDocument/2006/relationships" id="2147483651" r:id="Rae15a25267644969"/>
    <p:sldLayoutId xmlns:r="http://schemas.openxmlformats.org/officeDocument/2006/relationships" id="2147483652" r:id="Rc816061c1e4f4444"/>
    <p:sldLayoutId xmlns:r="http://schemas.openxmlformats.org/officeDocument/2006/relationships" id="2147483653" r:id="R3994353d6ec04ac7"/>
    <p:sldLayoutId xmlns:r="http://schemas.openxmlformats.org/officeDocument/2006/relationships" id="2147483654" r:id="R97d2179fde1742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0f949ee504976" /><Relationship Type="http://schemas.openxmlformats.org/officeDocument/2006/relationships/image" Target="/ppt/media/image.png" Id="R6f6fe2b57b5f43d4" /><Relationship Type="http://schemas.openxmlformats.org/officeDocument/2006/relationships/notesSlide" Target="/ppt/notesSlides/notesSlide1.xml" Id="R2a78e64e36624d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f9496a6024a9b" /><Relationship Type="http://schemas.openxmlformats.org/officeDocument/2006/relationships/notesSlide" Target="/ppt/notesSlides/notesSlide2.xml" Id="R74bd95c017884d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b7416500e4c17" /><Relationship Type="http://schemas.openxmlformats.org/officeDocument/2006/relationships/notesSlide" Target="/ppt/notesSlides/notesSlide3.xml" Id="R63e27b06ca9041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4802fbc6940d1" /><Relationship Type="http://schemas.openxmlformats.org/officeDocument/2006/relationships/notesSlide" Target="/ppt/notesSlides/notesSlide4.xml" Id="Rb08d559da0e447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bb98610554043" /><Relationship Type="http://schemas.openxmlformats.org/officeDocument/2006/relationships/image" Target="/ppt/media/image2.png" Id="R5455af55f9e24d8a" /><Relationship Type="http://schemas.openxmlformats.org/officeDocument/2006/relationships/notesSlide" Target="/ppt/notesSlides/notesSlide5.xml" Id="R2c3548a8dcea42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f7e774f784588" /><Relationship Type="http://schemas.openxmlformats.org/officeDocument/2006/relationships/image" Target="/ppt/media/image3.png" Id="Rba04e5193950439e" /><Relationship Type="http://schemas.openxmlformats.org/officeDocument/2006/relationships/notesSlide" Target="/ppt/notesSlides/notesSlide6.xml" Id="R0ef163e197c44d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3594b5e22144ac" /><Relationship Type="http://schemas.openxmlformats.org/officeDocument/2006/relationships/image" Target="/ppt/media/image4.png" Id="Re347090581a043ea" /><Relationship Type="http://schemas.openxmlformats.org/officeDocument/2006/relationships/notesSlide" Target="/ppt/notesSlides/notesSlide7.xml" Id="R0280a006c91045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18f3848b940dc" /><Relationship Type="http://schemas.openxmlformats.org/officeDocument/2006/relationships/notesSlide" Target="/ppt/notesSlides/notesSlide8.xml" Id="Re2dabecbae1640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97f0e94d3d4e65" /><Relationship Type="http://schemas.openxmlformats.org/officeDocument/2006/relationships/notesSlide" Target="/ppt/notesSlides/notesSlide9.xml" Id="R122c92ea89434a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c3469b53f4cb8" /><Relationship Type="http://schemas.openxmlformats.org/officeDocument/2006/relationships/notesSlide" Target="/ppt/notesSlides/notesSlide10.xml" Id="R3c0b28201f144d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2835bf4244846" /><Relationship Type="http://schemas.openxmlformats.org/officeDocument/2006/relationships/notesSlide" Target="/ppt/notesSlides/notesSlide11.xml" Id="R0b0000e49e6743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106d1d0b242b9" /><Relationship Type="http://schemas.openxmlformats.org/officeDocument/2006/relationships/notesSlide" Target="/ppt/notesSlides/notesSlide12.xml" Id="R2e35f1696abe47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1EC97-EC58-48BF-BE86-02BDD0EEC9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fe2b57b5f43d4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1721E-AE6E-4456-8B74-35AF853B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642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FFFFFF"/>
                </a:solidFill>
              </a:defRPr>
            </a:defPPr>
            <a:lvl1pPr>
              <a:defRPr sz="4650" b="1">
                <a:solidFill>
                  <a:srgbClr val="FFFFFF"/>
                </a:solidFill>
              </a:defRPr>
            </a:lvl1pPr>
            <a:lvl2pPr>
              <a:defRPr sz="4650" b="1">
                <a:solidFill>
                  <a:srgbClr val="FFFFFF"/>
                </a:solidFill>
              </a:defRPr>
            </a:lvl2pPr>
            <a:lvl3pPr>
              <a:defRPr sz="4650" b="1">
                <a:solidFill>
                  <a:srgbClr val="FFFFFF"/>
                </a:solidFill>
              </a:defRPr>
            </a:lvl3pPr>
            <a:lvl4pPr>
              <a:defRPr sz="4650" b="1">
                <a:solidFill>
                  <a:srgbClr val="FFFFFF"/>
                </a:solidFill>
              </a:defRPr>
            </a:lvl4pPr>
            <a:lvl5pPr>
              <a:defRPr sz="4650" b="1">
                <a:solidFill>
                  <a:srgbClr val="FFFFFF"/>
                </a:solidFill>
              </a:defRPr>
            </a:lvl5pPr>
            <a:lvl6pPr>
              <a:defRPr sz="4650" b="1">
                <a:solidFill>
                  <a:srgbClr val="FFFFFF"/>
                </a:solidFill>
              </a:defRPr>
            </a:lvl6pPr>
            <a:lvl7pPr>
              <a:defRPr sz="4650" b="1">
                <a:solidFill>
                  <a:srgbClr val="FFFFFF"/>
                </a:solidFill>
              </a:defRPr>
            </a:lvl7pPr>
            <a:lvl8pPr>
              <a:defRPr sz="4650" b="1">
                <a:solidFill>
                  <a:srgbClr val="FFFFFF"/>
                </a:solidFill>
              </a:defRPr>
            </a:lvl8pPr>
            <a:lvl9pPr>
              <a:defRPr sz="4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RecoverFlow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DA6C8-3781-43B5-8F12-EBC07DE7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581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E5F4F3"/>
                </a:solidFill>
              </a:defRPr>
            </a:defPPr>
            <a:lvl1pPr>
              <a:defRPr sz="2100" b="0">
                <a:solidFill>
                  <a:srgbClr val="E5F4F3"/>
                </a:solidFill>
              </a:defRPr>
            </a:lvl1pPr>
            <a:lvl2pPr>
              <a:defRPr sz="2100" b="0">
                <a:solidFill>
                  <a:srgbClr val="E5F4F3"/>
                </a:solidFill>
              </a:defRPr>
            </a:lvl2pPr>
            <a:lvl3pPr>
              <a:defRPr sz="2100" b="0">
                <a:solidFill>
                  <a:srgbClr val="E5F4F3"/>
                </a:solidFill>
              </a:defRPr>
            </a:lvl3pPr>
            <a:lvl4pPr>
              <a:defRPr sz="2100" b="0">
                <a:solidFill>
                  <a:srgbClr val="E5F4F3"/>
                </a:solidFill>
              </a:defRPr>
            </a:lvl4pPr>
            <a:lvl5pPr>
              <a:defRPr sz="2100" b="0">
                <a:solidFill>
                  <a:srgbClr val="E5F4F3"/>
                </a:solidFill>
              </a:defRPr>
            </a:lvl5pPr>
            <a:lvl6pPr>
              <a:defRPr sz="2100" b="0">
                <a:solidFill>
                  <a:srgbClr val="E5F4F3"/>
                </a:solidFill>
              </a:defRPr>
            </a:lvl6pPr>
            <a:lvl7pPr>
              <a:defRPr sz="2100" b="0">
                <a:solidFill>
                  <a:srgbClr val="E5F4F3"/>
                </a:solidFill>
              </a:defRPr>
            </a:lvl7pPr>
            <a:lvl8pPr>
              <a:defRPr sz="2100" b="0">
                <a:solidFill>
                  <a:srgbClr val="E5F4F3"/>
                </a:solidFill>
              </a:defRPr>
            </a:lvl8pPr>
            <a:lvl9pPr>
              <a:defRPr sz="2100" b="0">
                <a:solidFill>
                  <a:srgbClr val="E5F4F3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5F4F3"/>
                </a:solidFill>
              </a:defRPr>
            </a:pPr>
            <a:r>
              <a:rPr sz="2100" b="0">
                <a:solidFill>
                  <a:srgbClr val="E5F4F3"/>
                </a:solidFill>
              </a:rPr>
              <a:t>Evidence-led recovery for disputed receivables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E1E72-66EC-45BB-8837-084527A5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816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B8CBD1"/>
                </a:solidFill>
              </a:defRPr>
            </a:defPPr>
            <a:lvl1pPr>
              <a:defRPr sz="1275" b="0">
                <a:solidFill>
                  <a:srgbClr val="B8CBD1"/>
                </a:solidFill>
              </a:defRPr>
            </a:lvl1pPr>
            <a:lvl2pPr>
              <a:defRPr sz="1275" b="0">
                <a:solidFill>
                  <a:srgbClr val="B8CBD1"/>
                </a:solidFill>
              </a:defRPr>
            </a:lvl2pPr>
            <a:lvl3pPr>
              <a:defRPr sz="1275" b="0">
                <a:solidFill>
                  <a:srgbClr val="B8CBD1"/>
                </a:solidFill>
              </a:defRPr>
            </a:lvl3pPr>
            <a:lvl4pPr>
              <a:defRPr sz="1275" b="0">
                <a:solidFill>
                  <a:srgbClr val="B8CBD1"/>
                </a:solidFill>
              </a:defRPr>
            </a:lvl4pPr>
            <a:lvl5pPr>
              <a:defRPr sz="1275" b="0">
                <a:solidFill>
                  <a:srgbClr val="B8CBD1"/>
                </a:solidFill>
              </a:defRPr>
            </a:lvl5pPr>
            <a:lvl6pPr>
              <a:defRPr sz="1275" b="0">
                <a:solidFill>
                  <a:srgbClr val="B8CBD1"/>
                </a:solidFill>
              </a:defRPr>
            </a:lvl6pPr>
            <a:lvl7pPr>
              <a:defRPr sz="1275" b="0">
                <a:solidFill>
                  <a:srgbClr val="B8CBD1"/>
                </a:solidFill>
              </a:defRPr>
            </a:lvl7pPr>
            <a:lvl8pPr>
              <a:defRPr sz="1275" b="0">
                <a:solidFill>
                  <a:srgbClr val="B8CBD1"/>
                </a:solidFill>
              </a:defRPr>
            </a:lvl8pPr>
            <a:lvl9pPr>
              <a:defRPr sz="1275" b="0">
                <a:solidFill>
                  <a:srgbClr val="B8CBD1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BD1"/>
                </a:solidFill>
              </a:defRPr>
            </a:pPr>
            <a:r>
              <a:rPr sz="1275" b="0">
                <a:solidFill>
                  <a:srgbClr val="B8CBD1"/>
                </a:solidFill>
              </a:rPr>
              <a:t>Hackathon demo  |  India MSME credit operations</a:t>
            </a:r>
          </a:p>
        </p:txBody>
      </p:sp>
    </p:spTree>
    <p:extLst>
      <p:ext uri="{BB962C8B-B14F-4D97-AF65-F5344CB8AC3E}">
        <p14:creationId xmlns:p14="http://schemas.microsoft.com/office/powerpoint/2010/main" val="1934461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5EA56-A2AD-4EB3-92F3-DEE7E2FF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0E2637"/>
                </a:solidFill>
              </a:defRPr>
            </a:defPPr>
            <a:lvl1pPr>
              <a:defRPr sz="2700" b="1">
                <a:solidFill>
                  <a:srgbClr val="0E2637"/>
                </a:solidFill>
              </a:defRPr>
            </a:lvl1pPr>
            <a:lvl2pPr>
              <a:defRPr sz="2700" b="1">
                <a:solidFill>
                  <a:srgbClr val="0E2637"/>
                </a:solidFill>
              </a:defRPr>
            </a:lvl2pPr>
            <a:lvl3pPr>
              <a:defRPr sz="2700" b="1">
                <a:solidFill>
                  <a:srgbClr val="0E2637"/>
                </a:solidFill>
              </a:defRPr>
            </a:lvl3pPr>
            <a:lvl4pPr>
              <a:defRPr sz="2700" b="1">
                <a:solidFill>
                  <a:srgbClr val="0E2637"/>
                </a:solidFill>
              </a:defRPr>
            </a:lvl4pPr>
            <a:lvl5pPr>
              <a:defRPr sz="2700" b="1">
                <a:solidFill>
                  <a:srgbClr val="0E2637"/>
                </a:solidFill>
              </a:defRPr>
            </a:lvl5pPr>
            <a:lvl6pPr>
              <a:defRPr sz="2700" b="1">
                <a:solidFill>
                  <a:srgbClr val="0E2637"/>
                </a:solidFill>
              </a:defRPr>
            </a:lvl6pPr>
            <a:lvl7pPr>
              <a:defRPr sz="2700" b="1">
                <a:solidFill>
                  <a:srgbClr val="0E2637"/>
                </a:solidFill>
              </a:defRPr>
            </a:lvl7pPr>
            <a:lvl8pPr>
              <a:defRPr sz="2700" b="1">
                <a:solidFill>
                  <a:srgbClr val="0E2637"/>
                </a:solidFill>
              </a:defRPr>
            </a:lvl8pPr>
            <a:lvl9pPr>
              <a:defRPr sz="270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E2637"/>
                </a:solidFill>
              </a:defRPr>
            </a:pPr>
            <a:r>
              <a:rPr sz="2700" b="1">
                <a:solidFill>
                  <a:srgbClr val="0E2637"/>
                </a:solidFill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938E1-CA44-4819-B652-A91F5100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46572"/>
                </a:solidFill>
              </a:defRPr>
            </a:defPPr>
            <a:lvl1pPr>
              <a:defRPr sz="975" b="1">
                <a:solidFill>
                  <a:srgbClr val="546572"/>
                </a:solidFill>
              </a:defRPr>
            </a:lvl1pPr>
            <a:lvl2pPr>
              <a:defRPr sz="975" b="1">
                <a:solidFill>
                  <a:srgbClr val="546572"/>
                </a:solidFill>
              </a:defRPr>
            </a:lvl2pPr>
            <a:lvl3pPr>
              <a:defRPr sz="975" b="1">
                <a:solidFill>
                  <a:srgbClr val="546572"/>
                </a:solidFill>
              </a:defRPr>
            </a:lvl3pPr>
            <a:lvl4pPr>
              <a:defRPr sz="975" b="1">
                <a:solidFill>
                  <a:srgbClr val="546572"/>
                </a:solidFill>
              </a:defRPr>
            </a:lvl4pPr>
            <a:lvl5pPr>
              <a:defRPr sz="975" b="1">
                <a:solidFill>
                  <a:srgbClr val="546572"/>
                </a:solidFill>
              </a:defRPr>
            </a:lvl5pPr>
            <a:lvl6pPr>
              <a:defRPr sz="975" b="1">
                <a:solidFill>
                  <a:srgbClr val="546572"/>
                </a:solidFill>
              </a:defRPr>
            </a:lvl6pPr>
            <a:lvl7pPr>
              <a:defRPr sz="975" b="1">
                <a:solidFill>
                  <a:srgbClr val="546572"/>
                </a:solidFill>
              </a:defRPr>
            </a:lvl7pPr>
            <a:lvl8pPr>
              <a:defRPr sz="975" b="1">
                <a:solidFill>
                  <a:srgbClr val="546572"/>
                </a:solidFill>
              </a:defRPr>
            </a:lvl8pPr>
            <a:lvl9pPr>
              <a:defRPr sz="975" b="1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46572"/>
                </a:solidFill>
              </a:defRPr>
            </a:pPr>
            <a:r>
              <a:rPr sz="975" b="1">
                <a:solidFill>
                  <a:srgbClr val="54657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D0B84-98D1-4D87-9EB9-1CBFD9AD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430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0E2637"/>
                </a:solidFill>
              </a:defRPr>
            </a:defPPr>
            <a:lvl1pPr>
              <a:defRPr sz="2550" b="1">
                <a:solidFill>
                  <a:srgbClr val="0E2637"/>
                </a:solidFill>
              </a:defRPr>
            </a:lvl1pPr>
            <a:lvl2pPr>
              <a:defRPr sz="2550" b="1">
                <a:solidFill>
                  <a:srgbClr val="0E2637"/>
                </a:solidFill>
              </a:defRPr>
            </a:lvl2pPr>
            <a:lvl3pPr>
              <a:defRPr sz="2550" b="1">
                <a:solidFill>
                  <a:srgbClr val="0E2637"/>
                </a:solidFill>
              </a:defRPr>
            </a:lvl3pPr>
            <a:lvl4pPr>
              <a:defRPr sz="2550" b="1">
                <a:solidFill>
                  <a:srgbClr val="0E2637"/>
                </a:solidFill>
              </a:defRPr>
            </a:lvl4pPr>
            <a:lvl5pPr>
              <a:defRPr sz="2550" b="1">
                <a:solidFill>
                  <a:srgbClr val="0E2637"/>
                </a:solidFill>
              </a:defRPr>
            </a:lvl5pPr>
            <a:lvl6pPr>
              <a:defRPr sz="2550" b="1">
                <a:solidFill>
                  <a:srgbClr val="0E2637"/>
                </a:solidFill>
              </a:defRPr>
            </a:lvl6pPr>
            <a:lvl7pPr>
              <a:defRPr sz="2550" b="1">
                <a:solidFill>
                  <a:srgbClr val="0E2637"/>
                </a:solidFill>
              </a:defRPr>
            </a:lvl7pPr>
            <a:lvl8pPr>
              <a:defRPr sz="2550" b="1">
                <a:solidFill>
                  <a:srgbClr val="0E2637"/>
                </a:solidFill>
              </a:defRPr>
            </a:lvl8pPr>
            <a:lvl9pPr>
              <a:defRPr sz="255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E2637"/>
                </a:solidFill>
              </a:defRPr>
            </a:pPr>
            <a:r>
              <a:rPr sz="2550" b="1">
                <a:solidFill>
                  <a:srgbClr val="0E2637"/>
                </a:solidFill>
              </a:rPr>
              <a:t>A partial payment plus a dispute creates two different balances.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F9FE-0DEF-4CC9-90C9-A125677D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546572"/>
                </a:solidFill>
              </a:defRPr>
            </a:defPPr>
            <a:lvl1pPr>
              <a:defRPr sz="2025" b="0">
                <a:solidFill>
                  <a:srgbClr val="546572"/>
                </a:solidFill>
              </a:defRPr>
            </a:lvl1pPr>
            <a:lvl2pPr>
              <a:defRPr sz="2025" b="0">
                <a:solidFill>
                  <a:srgbClr val="546572"/>
                </a:solidFill>
              </a:defRPr>
            </a:lvl2pPr>
            <a:lvl3pPr>
              <a:defRPr sz="2025" b="0">
                <a:solidFill>
                  <a:srgbClr val="546572"/>
                </a:solidFill>
              </a:defRPr>
            </a:lvl3pPr>
            <a:lvl4pPr>
              <a:defRPr sz="2025" b="0">
                <a:solidFill>
                  <a:srgbClr val="546572"/>
                </a:solidFill>
              </a:defRPr>
            </a:lvl4pPr>
            <a:lvl5pPr>
              <a:defRPr sz="2025" b="0">
                <a:solidFill>
                  <a:srgbClr val="546572"/>
                </a:solidFill>
              </a:defRPr>
            </a:lvl5pPr>
            <a:lvl6pPr>
              <a:defRPr sz="2025" b="0">
                <a:solidFill>
                  <a:srgbClr val="546572"/>
                </a:solidFill>
              </a:defRPr>
            </a:lvl6pPr>
            <a:lvl7pPr>
              <a:defRPr sz="2025" b="0">
                <a:solidFill>
                  <a:srgbClr val="546572"/>
                </a:solidFill>
              </a:defRPr>
            </a:lvl7pPr>
            <a:lvl8pPr>
              <a:defRPr sz="2025" b="0">
                <a:solidFill>
                  <a:srgbClr val="546572"/>
                </a:solidFill>
              </a:defRPr>
            </a:lvl8pPr>
            <a:lvl9pPr>
              <a:defRPr sz="2025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46572"/>
                </a:solidFill>
              </a:defRPr>
            </a:pPr>
            <a:r>
              <a:rPr sz="2025" b="0">
                <a:solidFill>
                  <a:srgbClr val="546572"/>
                </a:solidFill>
              </a:rPr>
              <a:t>A blunt reminder for the full outstanding amount can demand money the customer has specifically disputed.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71814-F841-437B-BC9D-E748E7FE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0E2637"/>
                </a:solidFill>
              </a:defRPr>
            </a:defPPr>
            <a:lvl1pPr>
              <a:defRPr sz="2025" b="0">
                <a:solidFill>
                  <a:srgbClr val="0E2637"/>
                </a:solidFill>
              </a:defRPr>
            </a:lvl1pPr>
            <a:lvl2pPr>
              <a:defRPr sz="2025" b="0">
                <a:solidFill>
                  <a:srgbClr val="0E2637"/>
                </a:solidFill>
              </a:defRPr>
            </a:lvl2pPr>
            <a:lvl3pPr>
              <a:defRPr sz="2025" b="0">
                <a:solidFill>
                  <a:srgbClr val="0E2637"/>
                </a:solidFill>
              </a:defRPr>
            </a:lvl3pPr>
            <a:lvl4pPr>
              <a:defRPr sz="2025" b="0">
                <a:solidFill>
                  <a:srgbClr val="0E2637"/>
                </a:solidFill>
              </a:defRPr>
            </a:lvl4pPr>
            <a:lvl5pPr>
              <a:defRPr sz="2025" b="0">
                <a:solidFill>
                  <a:srgbClr val="0E2637"/>
                </a:solidFill>
              </a:defRPr>
            </a:lvl5pPr>
            <a:lvl6pPr>
              <a:defRPr sz="2025" b="0">
                <a:solidFill>
                  <a:srgbClr val="0E2637"/>
                </a:solidFill>
              </a:defRPr>
            </a:lvl6pPr>
            <a:lvl7pPr>
              <a:defRPr sz="2025" b="0">
                <a:solidFill>
                  <a:srgbClr val="0E2637"/>
                </a:solidFill>
              </a:defRPr>
            </a:lvl7pPr>
            <a:lvl8pPr>
              <a:defRPr sz="2025" b="0">
                <a:solidFill>
                  <a:srgbClr val="0E2637"/>
                </a:solidFill>
              </a:defRPr>
            </a:lvl8pPr>
            <a:lvl9pPr>
              <a:defRPr sz="2025" b="0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E2637"/>
                </a:solidFill>
              </a:defRPr>
            </a:pPr>
            <a:r>
              <a:rPr sz="2025" b="0">
                <a:solidFill>
                  <a:srgbClr val="0E2637"/>
                </a:solidFill>
              </a:rPr>
              <a:t>For a credit selling MSME, staff must reconcile the invoice, purchase order, receipt and customer reply before they can ask for the amount actually owed.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D1E45-890C-47AB-AA95-6300A75D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B76B23"/>
                </a:solidFill>
              </a:defRPr>
            </a:defPPr>
            <a:lvl1pPr>
              <a:defRPr sz="1275" b="0">
                <a:solidFill>
                  <a:srgbClr val="B76B23"/>
                </a:solidFill>
              </a:defRPr>
            </a:lvl1pPr>
            <a:lvl2pPr>
              <a:defRPr sz="1275" b="0">
                <a:solidFill>
                  <a:srgbClr val="B76B23"/>
                </a:solidFill>
              </a:defRPr>
            </a:lvl2pPr>
            <a:lvl3pPr>
              <a:defRPr sz="1275" b="0">
                <a:solidFill>
                  <a:srgbClr val="B76B23"/>
                </a:solidFill>
              </a:defRPr>
            </a:lvl3pPr>
            <a:lvl4pPr>
              <a:defRPr sz="1275" b="0">
                <a:solidFill>
                  <a:srgbClr val="B76B23"/>
                </a:solidFill>
              </a:defRPr>
            </a:lvl4pPr>
            <a:lvl5pPr>
              <a:defRPr sz="1275" b="0">
                <a:solidFill>
                  <a:srgbClr val="B76B23"/>
                </a:solidFill>
              </a:defRPr>
            </a:lvl5pPr>
            <a:lvl6pPr>
              <a:defRPr sz="1275" b="0">
                <a:solidFill>
                  <a:srgbClr val="B76B23"/>
                </a:solidFill>
              </a:defRPr>
            </a:lvl6pPr>
            <a:lvl7pPr>
              <a:defRPr sz="1275" b="0">
                <a:solidFill>
                  <a:srgbClr val="B76B23"/>
                </a:solidFill>
              </a:defRPr>
            </a:lvl7pPr>
            <a:lvl8pPr>
              <a:defRPr sz="1275" b="0">
                <a:solidFill>
                  <a:srgbClr val="B76B23"/>
                </a:solidFill>
              </a:defRPr>
            </a:lvl8pPr>
            <a:lvl9pPr>
              <a:defRPr sz="1275" b="0">
                <a:solidFill>
                  <a:srgbClr val="B76B2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76B23"/>
                </a:solidFill>
              </a:defRPr>
            </a:pPr>
            <a:r>
              <a:rPr sz="1275" b="0">
                <a:solidFill>
                  <a:srgbClr val="B76B23"/>
                </a:solidFill>
              </a:rPr>
              <a:t>Target user: Indian retailers and distributors selling on credit. Market need remains a pilot hypothesis.</a:t>
            </a:r>
          </a:p>
        </p:txBody>
      </p:sp>
    </p:spTree>
    <p:extLst>
      <p:ext uri="{BB962C8B-B14F-4D97-AF65-F5344CB8AC3E}">
        <p14:creationId xmlns:p14="http://schemas.microsoft.com/office/powerpoint/2010/main" val="675186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D4C03-0A1B-426C-AB04-71601864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</a:defRPr>
            </a:defPPr>
            <a:lvl1pPr>
              <a:defRPr sz="2700" b="1">
                <a:solidFill>
                  <a:srgbClr val="FFFFFF"/>
                </a:solidFill>
              </a:defRPr>
            </a:lvl1pPr>
            <a:lvl2pPr>
              <a:defRPr sz="2700" b="1">
                <a:solidFill>
                  <a:srgbClr val="FFFFFF"/>
                </a:solidFill>
              </a:defRPr>
            </a:lvl2pPr>
            <a:lvl3pPr>
              <a:defRPr sz="2700" b="1">
                <a:solidFill>
                  <a:srgbClr val="FFFFFF"/>
                </a:solidFill>
              </a:defRPr>
            </a:lvl3pPr>
            <a:lvl4pPr>
              <a:defRPr sz="2700" b="1">
                <a:solidFill>
                  <a:srgbClr val="FFFFFF"/>
                </a:solidFill>
              </a:defRPr>
            </a:lvl4pPr>
            <a:lvl5pPr>
              <a:defRPr sz="2700" b="1">
                <a:solidFill>
                  <a:srgbClr val="FFFFFF"/>
                </a:solidFill>
              </a:defRPr>
            </a:lvl5pPr>
            <a:lvl6pPr>
              <a:defRPr sz="2700" b="1">
                <a:solidFill>
                  <a:srgbClr val="FFFFFF"/>
                </a:solidFill>
              </a:defRPr>
            </a:lvl6pPr>
            <a:lvl7pPr>
              <a:defRPr sz="2700" b="1">
                <a:solidFill>
                  <a:srgbClr val="FFFFFF"/>
                </a:solidFill>
              </a:defRPr>
            </a:lvl7pPr>
            <a:lvl8pPr>
              <a:defRPr sz="2700" b="1">
                <a:solidFill>
                  <a:srgbClr val="FFFFFF"/>
                </a:solidFill>
              </a:defRPr>
            </a:lvl8pPr>
            <a:lvl9pPr>
              <a:defRPr sz="27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recoverable 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E87A7-205D-41D3-8E94-7B48D081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96ABBB"/>
                </a:solidFill>
              </a:defRPr>
            </a:defPPr>
            <a:lvl1pPr>
              <a:defRPr sz="975" b="1">
                <a:solidFill>
                  <a:srgbClr val="96ABBB"/>
                </a:solidFill>
              </a:defRPr>
            </a:lvl1pPr>
            <a:lvl2pPr>
              <a:defRPr sz="975" b="1">
                <a:solidFill>
                  <a:srgbClr val="96ABBB"/>
                </a:solidFill>
              </a:defRPr>
            </a:lvl2pPr>
            <a:lvl3pPr>
              <a:defRPr sz="975" b="1">
                <a:solidFill>
                  <a:srgbClr val="96ABBB"/>
                </a:solidFill>
              </a:defRPr>
            </a:lvl3pPr>
            <a:lvl4pPr>
              <a:defRPr sz="975" b="1">
                <a:solidFill>
                  <a:srgbClr val="96ABBB"/>
                </a:solidFill>
              </a:defRPr>
            </a:lvl4pPr>
            <a:lvl5pPr>
              <a:defRPr sz="975" b="1">
                <a:solidFill>
                  <a:srgbClr val="96ABBB"/>
                </a:solidFill>
              </a:defRPr>
            </a:lvl5pPr>
            <a:lvl6pPr>
              <a:defRPr sz="975" b="1">
                <a:solidFill>
                  <a:srgbClr val="96ABBB"/>
                </a:solidFill>
              </a:defRPr>
            </a:lvl6pPr>
            <a:lvl7pPr>
              <a:defRPr sz="975" b="1">
                <a:solidFill>
                  <a:srgbClr val="96ABBB"/>
                </a:solidFill>
              </a:defRPr>
            </a:lvl7pPr>
            <a:lvl8pPr>
              <a:defRPr sz="975" b="1">
                <a:solidFill>
                  <a:srgbClr val="96ABBB"/>
                </a:solidFill>
              </a:defRPr>
            </a:lvl8pPr>
            <a:lvl9pPr>
              <a:defRPr sz="975" b="1">
                <a:solidFill>
                  <a:srgbClr val="96ABB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96ABBB"/>
                </a:solidFill>
              </a:defRPr>
            </a:pPr>
            <a:r>
              <a:rPr sz="975" b="1">
                <a:solidFill>
                  <a:srgbClr val="96ABB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182FC-5D65-47A4-B253-63348DC0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457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400" b="1">
                <a:solidFill>
                  <a:srgbClr val="FFFFFF"/>
                </a:solidFill>
              </a:defRPr>
            </a:defPPr>
            <a:lvl1pPr>
              <a:defRPr sz="5400" b="1">
                <a:solidFill>
                  <a:srgbClr val="FFFFFF"/>
                </a:solidFill>
              </a:defRPr>
            </a:lvl1pPr>
            <a:lvl2pPr>
              <a:defRPr sz="5400" b="1">
                <a:solidFill>
                  <a:srgbClr val="FFFFFF"/>
                </a:solidFill>
              </a:defRPr>
            </a:lvl2pPr>
            <a:lvl3pPr>
              <a:defRPr sz="5400" b="1">
                <a:solidFill>
                  <a:srgbClr val="FFFFFF"/>
                </a:solidFill>
              </a:defRPr>
            </a:lvl3pPr>
            <a:lvl4pPr>
              <a:defRPr sz="5400" b="1">
                <a:solidFill>
                  <a:srgbClr val="FFFFFF"/>
                </a:solidFill>
              </a:defRPr>
            </a:lvl4pPr>
            <a:lvl5pPr>
              <a:defRPr sz="5400" b="1">
                <a:solidFill>
                  <a:srgbClr val="FFFFFF"/>
                </a:solidFill>
              </a:defRPr>
            </a:lvl5pPr>
            <a:lvl6pPr>
              <a:defRPr sz="5400" b="1">
                <a:solidFill>
                  <a:srgbClr val="FFFFFF"/>
                </a:solidFill>
              </a:defRPr>
            </a:lvl6pPr>
            <a:lvl7pPr>
              <a:defRPr sz="5400" b="1">
                <a:solidFill>
                  <a:srgbClr val="FFFFFF"/>
                </a:solidFill>
              </a:defRPr>
            </a:lvl7pPr>
            <a:lvl8pPr>
              <a:defRPr sz="5400" b="1">
                <a:solidFill>
                  <a:srgbClr val="FFFFFF"/>
                </a:solidFill>
              </a:defRPr>
            </a:lvl8pPr>
            <a:lvl9pPr>
              <a:defRPr sz="5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₹90,000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7079A-47D4-4E23-B274-CF05AFAD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0987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8CBD1"/>
                </a:solidFill>
              </a:defRPr>
            </a:defPPr>
            <a:lvl1pPr>
              <a:defRPr sz="1650" b="0">
                <a:solidFill>
                  <a:srgbClr val="B8CBD1"/>
                </a:solidFill>
              </a:defRPr>
            </a:lvl1pPr>
            <a:lvl2pPr>
              <a:defRPr sz="1650" b="0">
                <a:solidFill>
                  <a:srgbClr val="B8CBD1"/>
                </a:solidFill>
              </a:defRPr>
            </a:lvl2pPr>
            <a:lvl3pPr>
              <a:defRPr sz="1650" b="0">
                <a:solidFill>
                  <a:srgbClr val="B8CBD1"/>
                </a:solidFill>
              </a:defRPr>
            </a:lvl3pPr>
            <a:lvl4pPr>
              <a:defRPr sz="1650" b="0">
                <a:solidFill>
                  <a:srgbClr val="B8CBD1"/>
                </a:solidFill>
              </a:defRPr>
            </a:lvl4pPr>
            <a:lvl5pPr>
              <a:defRPr sz="1650" b="0">
                <a:solidFill>
                  <a:srgbClr val="B8CBD1"/>
                </a:solidFill>
              </a:defRPr>
            </a:lvl5pPr>
            <a:lvl6pPr>
              <a:defRPr sz="1650" b="0">
                <a:solidFill>
                  <a:srgbClr val="B8CBD1"/>
                </a:solidFill>
              </a:defRPr>
            </a:lvl6pPr>
            <a:lvl7pPr>
              <a:defRPr sz="1650" b="0">
                <a:solidFill>
                  <a:srgbClr val="B8CBD1"/>
                </a:solidFill>
              </a:defRPr>
            </a:lvl7pPr>
            <a:lvl8pPr>
              <a:defRPr sz="1650" b="0">
                <a:solidFill>
                  <a:srgbClr val="B8CBD1"/>
                </a:solidFill>
              </a:defRPr>
            </a:lvl8pPr>
            <a:lvl9pPr>
              <a:defRPr sz="1650" b="0">
                <a:solidFill>
                  <a:srgbClr val="B8CBD1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CBD1"/>
                </a:solidFill>
              </a:defRPr>
            </a:pPr>
            <a:r>
              <a:rPr sz="1650" b="0">
                <a:solidFill>
                  <a:srgbClr val="B8CBD1"/>
                </a:solidFill>
              </a:rPr>
              <a:t>outstanding after partial payment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70FAA-D75D-4098-99B3-2940B1A5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57625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825" b="1">
                <a:solidFill>
                  <a:srgbClr val="E8AA64"/>
                </a:solidFill>
              </a:defRPr>
            </a:defPPr>
            <a:lvl1pPr>
              <a:defRPr sz="3825" b="1">
                <a:solidFill>
                  <a:srgbClr val="E8AA64"/>
                </a:solidFill>
              </a:defRPr>
            </a:lvl1pPr>
            <a:lvl2pPr>
              <a:defRPr sz="3825" b="1">
                <a:solidFill>
                  <a:srgbClr val="E8AA64"/>
                </a:solidFill>
              </a:defRPr>
            </a:lvl2pPr>
            <a:lvl3pPr>
              <a:defRPr sz="3825" b="1">
                <a:solidFill>
                  <a:srgbClr val="E8AA64"/>
                </a:solidFill>
              </a:defRPr>
            </a:lvl3pPr>
            <a:lvl4pPr>
              <a:defRPr sz="3825" b="1">
                <a:solidFill>
                  <a:srgbClr val="E8AA64"/>
                </a:solidFill>
              </a:defRPr>
            </a:lvl4pPr>
            <a:lvl5pPr>
              <a:defRPr sz="3825" b="1">
                <a:solidFill>
                  <a:srgbClr val="E8AA64"/>
                </a:solidFill>
              </a:defRPr>
            </a:lvl5pPr>
            <a:lvl6pPr>
              <a:defRPr sz="3825" b="1">
                <a:solidFill>
                  <a:srgbClr val="E8AA64"/>
                </a:solidFill>
              </a:defRPr>
            </a:lvl6pPr>
            <a:lvl7pPr>
              <a:defRPr sz="3825" b="1">
                <a:solidFill>
                  <a:srgbClr val="E8AA64"/>
                </a:solidFill>
              </a:defRPr>
            </a:lvl7pPr>
            <a:lvl8pPr>
              <a:defRPr sz="3825" b="1">
                <a:solidFill>
                  <a:srgbClr val="E8AA64"/>
                </a:solidFill>
              </a:defRPr>
            </a:lvl8pPr>
            <a:lvl9pPr>
              <a:defRPr sz="3825" b="1">
                <a:solidFill>
                  <a:srgbClr val="E8AA64"/>
                </a:solidFill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E8AA64"/>
                </a:solidFill>
              </a:defRPr>
            </a:pPr>
            <a:r>
              <a:rPr sz="3825" b="1">
                <a:solidFill>
                  <a:srgbClr val="E8AA64"/>
                </a:solidFill>
              </a:rPr>
              <a:t>₹30,000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F9FC4-BE04-4FE0-9698-EC28607C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D5BC9A"/>
                </a:solidFill>
              </a:defRPr>
            </a:defPPr>
            <a:lvl1pPr>
              <a:defRPr sz="1575" b="0">
                <a:solidFill>
                  <a:srgbClr val="D5BC9A"/>
                </a:solidFill>
              </a:defRPr>
            </a:lvl1pPr>
            <a:lvl2pPr>
              <a:defRPr sz="1575" b="0">
                <a:solidFill>
                  <a:srgbClr val="D5BC9A"/>
                </a:solidFill>
              </a:defRPr>
            </a:lvl2pPr>
            <a:lvl3pPr>
              <a:defRPr sz="1575" b="0">
                <a:solidFill>
                  <a:srgbClr val="D5BC9A"/>
                </a:solidFill>
              </a:defRPr>
            </a:lvl3pPr>
            <a:lvl4pPr>
              <a:defRPr sz="1575" b="0">
                <a:solidFill>
                  <a:srgbClr val="D5BC9A"/>
                </a:solidFill>
              </a:defRPr>
            </a:lvl4pPr>
            <a:lvl5pPr>
              <a:defRPr sz="1575" b="0">
                <a:solidFill>
                  <a:srgbClr val="D5BC9A"/>
                </a:solidFill>
              </a:defRPr>
            </a:lvl5pPr>
            <a:lvl6pPr>
              <a:defRPr sz="1575" b="0">
                <a:solidFill>
                  <a:srgbClr val="D5BC9A"/>
                </a:solidFill>
              </a:defRPr>
            </a:lvl6pPr>
            <a:lvl7pPr>
              <a:defRPr sz="1575" b="0">
                <a:solidFill>
                  <a:srgbClr val="D5BC9A"/>
                </a:solidFill>
              </a:defRPr>
            </a:lvl7pPr>
            <a:lvl8pPr>
              <a:defRPr sz="1575" b="0">
                <a:solidFill>
                  <a:srgbClr val="D5BC9A"/>
                </a:solidFill>
              </a:defRPr>
            </a:lvl8pPr>
            <a:lvl9pPr>
              <a:defRPr sz="1575" b="0">
                <a:solidFill>
                  <a:srgbClr val="D5BC9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5BC9A"/>
                </a:solidFill>
              </a:defRPr>
            </a:pPr>
            <a:r>
              <a:rPr sz="1575" b="0">
                <a:solidFill>
                  <a:srgbClr val="D5BC9A"/>
                </a:solidFill>
              </a:rPr>
              <a:t>disputed and on 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6850D-CA8D-49A3-8952-667B5F04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576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825" b="1">
                <a:solidFill>
                  <a:srgbClr val="7FE2D7"/>
                </a:solidFill>
              </a:defRPr>
            </a:defPPr>
            <a:lvl1pPr>
              <a:defRPr sz="3825" b="1">
                <a:solidFill>
                  <a:srgbClr val="7FE2D7"/>
                </a:solidFill>
              </a:defRPr>
            </a:lvl1pPr>
            <a:lvl2pPr>
              <a:defRPr sz="3825" b="1">
                <a:solidFill>
                  <a:srgbClr val="7FE2D7"/>
                </a:solidFill>
              </a:defRPr>
            </a:lvl2pPr>
            <a:lvl3pPr>
              <a:defRPr sz="3825" b="1">
                <a:solidFill>
                  <a:srgbClr val="7FE2D7"/>
                </a:solidFill>
              </a:defRPr>
            </a:lvl3pPr>
            <a:lvl4pPr>
              <a:defRPr sz="3825" b="1">
                <a:solidFill>
                  <a:srgbClr val="7FE2D7"/>
                </a:solidFill>
              </a:defRPr>
            </a:lvl4pPr>
            <a:lvl5pPr>
              <a:defRPr sz="3825" b="1">
                <a:solidFill>
                  <a:srgbClr val="7FE2D7"/>
                </a:solidFill>
              </a:defRPr>
            </a:lvl5pPr>
            <a:lvl6pPr>
              <a:defRPr sz="3825" b="1">
                <a:solidFill>
                  <a:srgbClr val="7FE2D7"/>
                </a:solidFill>
              </a:defRPr>
            </a:lvl6pPr>
            <a:lvl7pPr>
              <a:defRPr sz="3825" b="1">
                <a:solidFill>
                  <a:srgbClr val="7FE2D7"/>
                </a:solidFill>
              </a:defRPr>
            </a:lvl7pPr>
            <a:lvl8pPr>
              <a:defRPr sz="3825" b="1">
                <a:solidFill>
                  <a:srgbClr val="7FE2D7"/>
                </a:solidFill>
              </a:defRPr>
            </a:lvl8pPr>
            <a:lvl9pPr>
              <a:defRPr sz="3825" b="1">
                <a:solidFill>
                  <a:srgbClr val="7FE2D7"/>
                </a:solidFill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7FE2D7"/>
                </a:solidFill>
              </a:defRPr>
            </a:pPr>
            <a:r>
              <a:rPr sz="3825" b="1">
                <a:solidFill>
                  <a:srgbClr val="7FE2D7"/>
                </a:solidFill>
              </a:rPr>
              <a:t>₹60,000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A4D95-59A5-4DAE-BF4D-7FA59FB0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815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B8DAD8"/>
                </a:solidFill>
              </a:defRPr>
            </a:defPPr>
            <a:lvl1pPr>
              <a:defRPr sz="1575" b="0">
                <a:solidFill>
                  <a:srgbClr val="B8DAD8"/>
                </a:solidFill>
              </a:defRPr>
            </a:lvl1pPr>
            <a:lvl2pPr>
              <a:defRPr sz="1575" b="0">
                <a:solidFill>
                  <a:srgbClr val="B8DAD8"/>
                </a:solidFill>
              </a:defRPr>
            </a:lvl2pPr>
            <a:lvl3pPr>
              <a:defRPr sz="1575" b="0">
                <a:solidFill>
                  <a:srgbClr val="B8DAD8"/>
                </a:solidFill>
              </a:defRPr>
            </a:lvl3pPr>
            <a:lvl4pPr>
              <a:defRPr sz="1575" b="0">
                <a:solidFill>
                  <a:srgbClr val="B8DAD8"/>
                </a:solidFill>
              </a:defRPr>
            </a:lvl4pPr>
            <a:lvl5pPr>
              <a:defRPr sz="1575" b="0">
                <a:solidFill>
                  <a:srgbClr val="B8DAD8"/>
                </a:solidFill>
              </a:defRPr>
            </a:lvl5pPr>
            <a:lvl6pPr>
              <a:defRPr sz="1575" b="0">
                <a:solidFill>
                  <a:srgbClr val="B8DAD8"/>
                </a:solidFill>
              </a:defRPr>
            </a:lvl6pPr>
            <a:lvl7pPr>
              <a:defRPr sz="1575" b="0">
                <a:solidFill>
                  <a:srgbClr val="B8DAD8"/>
                </a:solidFill>
              </a:defRPr>
            </a:lvl7pPr>
            <a:lvl8pPr>
              <a:defRPr sz="1575" b="0">
                <a:solidFill>
                  <a:srgbClr val="B8DAD8"/>
                </a:solidFill>
              </a:defRPr>
            </a:lvl8pPr>
            <a:lvl9pPr>
              <a:defRPr sz="1575" b="0">
                <a:solidFill>
                  <a:srgbClr val="B8DAD8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8DAD8"/>
                </a:solidFill>
              </a:defRPr>
            </a:pPr>
            <a:r>
              <a:rPr sz="1575" b="0">
                <a:solidFill>
                  <a:srgbClr val="B8DAD8"/>
                </a:solidFill>
              </a:rPr>
              <a:t>undisputed and eligible for a 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FB365-0571-4B6D-80EC-9D09F811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340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FFFFFF"/>
                </a:solidFill>
              </a:defRPr>
            </a:defPPr>
            <a:lvl1pPr>
              <a:defRPr sz="1650" b="0">
                <a:solidFill>
                  <a:srgbClr val="FFFFFF"/>
                </a:solidFill>
              </a:defRPr>
            </a:lvl1pPr>
            <a:lvl2pPr>
              <a:defRPr sz="1650" b="0">
                <a:solidFill>
                  <a:srgbClr val="FFFFFF"/>
                </a:solidFill>
              </a:defRPr>
            </a:lvl2pPr>
            <a:lvl3pPr>
              <a:defRPr sz="1650" b="0">
                <a:solidFill>
                  <a:srgbClr val="FFFFFF"/>
                </a:solidFill>
              </a:defRPr>
            </a:lvl3pPr>
            <a:lvl4pPr>
              <a:defRPr sz="1650" b="0">
                <a:solidFill>
                  <a:srgbClr val="FFFFFF"/>
                </a:solidFill>
              </a:defRPr>
            </a:lvl4pPr>
            <a:lvl5pPr>
              <a:defRPr sz="1650" b="0">
                <a:solidFill>
                  <a:srgbClr val="FFFFFF"/>
                </a:solidFill>
              </a:defRPr>
            </a:lvl5pPr>
            <a:lvl6pPr>
              <a:defRPr sz="1650" b="0">
                <a:solidFill>
                  <a:srgbClr val="FFFFFF"/>
                </a:solidFill>
              </a:defRPr>
            </a:lvl6pPr>
            <a:lvl7pPr>
              <a:defRPr sz="1650" b="0">
                <a:solidFill>
                  <a:srgbClr val="FFFFFF"/>
                </a:solidFill>
              </a:defRPr>
            </a:lvl7pPr>
            <a:lvl8pPr>
              <a:defRPr sz="1650" b="0">
                <a:solidFill>
                  <a:srgbClr val="FFFFFF"/>
                </a:solidFill>
              </a:defRPr>
            </a:lvl8pPr>
            <a:lvl9pPr>
              <a:defRPr sz="16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Invoice ₹2,40,000  −  received ₹1,50,000  =  outstanding ₹90,000</a:t>
            </a:r>
          </a:p>
        </p:txBody>
      </p:sp>
    </p:spTree>
    <p:extLst>
      <p:ext uri="{BB962C8B-B14F-4D97-AF65-F5344CB8AC3E}">
        <p14:creationId xmlns:p14="http://schemas.microsoft.com/office/powerpoint/2010/main" val="890259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AB30E-B537-4114-ACF7-F4DD49E4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0E2637"/>
                </a:solidFill>
              </a:defRPr>
            </a:defPPr>
            <a:lvl1pPr>
              <a:defRPr sz="2700" b="1">
                <a:solidFill>
                  <a:srgbClr val="0E2637"/>
                </a:solidFill>
              </a:defRPr>
            </a:lvl1pPr>
            <a:lvl2pPr>
              <a:defRPr sz="2700" b="1">
                <a:solidFill>
                  <a:srgbClr val="0E2637"/>
                </a:solidFill>
              </a:defRPr>
            </a:lvl2pPr>
            <a:lvl3pPr>
              <a:defRPr sz="2700" b="1">
                <a:solidFill>
                  <a:srgbClr val="0E2637"/>
                </a:solidFill>
              </a:defRPr>
            </a:lvl3pPr>
            <a:lvl4pPr>
              <a:defRPr sz="2700" b="1">
                <a:solidFill>
                  <a:srgbClr val="0E2637"/>
                </a:solidFill>
              </a:defRPr>
            </a:lvl4pPr>
            <a:lvl5pPr>
              <a:defRPr sz="2700" b="1">
                <a:solidFill>
                  <a:srgbClr val="0E2637"/>
                </a:solidFill>
              </a:defRPr>
            </a:lvl5pPr>
            <a:lvl6pPr>
              <a:defRPr sz="2700" b="1">
                <a:solidFill>
                  <a:srgbClr val="0E2637"/>
                </a:solidFill>
              </a:defRPr>
            </a:lvl6pPr>
            <a:lvl7pPr>
              <a:defRPr sz="2700" b="1">
                <a:solidFill>
                  <a:srgbClr val="0E2637"/>
                </a:solidFill>
              </a:defRPr>
            </a:lvl7pPr>
            <a:lvl8pPr>
              <a:defRPr sz="2700" b="1">
                <a:solidFill>
                  <a:srgbClr val="0E2637"/>
                </a:solidFill>
              </a:defRPr>
            </a:lvl8pPr>
            <a:lvl9pPr>
              <a:defRPr sz="270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E2637"/>
                </a:solidFill>
              </a:defRPr>
            </a:pPr>
            <a:r>
              <a:rPr sz="2700" b="1">
                <a:solidFill>
                  <a:srgbClr val="0E2637"/>
                </a:solidFill>
              </a:rPr>
              <a:t>Complete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2F519-24FD-43B1-81F6-993A058E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46572"/>
                </a:solidFill>
              </a:defRPr>
            </a:defPPr>
            <a:lvl1pPr>
              <a:defRPr sz="975" b="1">
                <a:solidFill>
                  <a:srgbClr val="546572"/>
                </a:solidFill>
              </a:defRPr>
            </a:lvl1pPr>
            <a:lvl2pPr>
              <a:defRPr sz="975" b="1">
                <a:solidFill>
                  <a:srgbClr val="546572"/>
                </a:solidFill>
              </a:defRPr>
            </a:lvl2pPr>
            <a:lvl3pPr>
              <a:defRPr sz="975" b="1">
                <a:solidFill>
                  <a:srgbClr val="546572"/>
                </a:solidFill>
              </a:defRPr>
            </a:lvl3pPr>
            <a:lvl4pPr>
              <a:defRPr sz="975" b="1">
                <a:solidFill>
                  <a:srgbClr val="546572"/>
                </a:solidFill>
              </a:defRPr>
            </a:lvl4pPr>
            <a:lvl5pPr>
              <a:defRPr sz="975" b="1">
                <a:solidFill>
                  <a:srgbClr val="546572"/>
                </a:solidFill>
              </a:defRPr>
            </a:lvl5pPr>
            <a:lvl6pPr>
              <a:defRPr sz="975" b="1">
                <a:solidFill>
                  <a:srgbClr val="546572"/>
                </a:solidFill>
              </a:defRPr>
            </a:lvl6pPr>
            <a:lvl7pPr>
              <a:defRPr sz="975" b="1">
                <a:solidFill>
                  <a:srgbClr val="546572"/>
                </a:solidFill>
              </a:defRPr>
            </a:lvl7pPr>
            <a:lvl8pPr>
              <a:defRPr sz="975" b="1">
                <a:solidFill>
                  <a:srgbClr val="546572"/>
                </a:solidFill>
              </a:defRPr>
            </a:lvl8pPr>
            <a:lvl9pPr>
              <a:defRPr sz="975" b="1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46572"/>
                </a:solidFill>
              </a:defRPr>
            </a:pPr>
            <a:r>
              <a:rPr sz="975" b="1">
                <a:solidFill>
                  <a:srgbClr val="54657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9FA58-BC18-4FB4-8B22-9BBBE72E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A8F91"/>
                </a:solidFill>
              </a:defRPr>
            </a:defPPr>
            <a:lvl1pPr>
              <a:defRPr sz="2175" b="1">
                <a:solidFill>
                  <a:srgbClr val="0A8F91"/>
                </a:solidFill>
              </a:defRPr>
            </a:lvl1pPr>
            <a:lvl2pPr>
              <a:defRPr sz="2175" b="1">
                <a:solidFill>
                  <a:srgbClr val="0A8F91"/>
                </a:solidFill>
              </a:defRPr>
            </a:lvl2pPr>
            <a:lvl3pPr>
              <a:defRPr sz="2175" b="1">
                <a:solidFill>
                  <a:srgbClr val="0A8F91"/>
                </a:solidFill>
              </a:defRPr>
            </a:lvl3pPr>
            <a:lvl4pPr>
              <a:defRPr sz="2175" b="1">
                <a:solidFill>
                  <a:srgbClr val="0A8F91"/>
                </a:solidFill>
              </a:defRPr>
            </a:lvl4pPr>
            <a:lvl5pPr>
              <a:defRPr sz="2175" b="1">
                <a:solidFill>
                  <a:srgbClr val="0A8F91"/>
                </a:solidFill>
              </a:defRPr>
            </a:lvl5pPr>
            <a:lvl6pPr>
              <a:defRPr sz="2175" b="1">
                <a:solidFill>
                  <a:srgbClr val="0A8F91"/>
                </a:solidFill>
              </a:defRPr>
            </a:lvl6pPr>
            <a:lvl7pPr>
              <a:defRPr sz="2175" b="1">
                <a:solidFill>
                  <a:srgbClr val="0A8F91"/>
                </a:solidFill>
              </a:defRPr>
            </a:lvl7pPr>
            <a:lvl8pPr>
              <a:defRPr sz="2175" b="1">
                <a:solidFill>
                  <a:srgbClr val="0A8F91"/>
                </a:solidFill>
              </a:defRPr>
            </a:lvl8pPr>
            <a:lvl9pPr>
              <a:defRPr sz="2175" b="1">
                <a:solidFill>
                  <a:srgbClr val="0A8F91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A8F91"/>
                </a:solidFill>
              </a:defRPr>
            </a:pPr>
            <a:r>
              <a:rPr sz="2175" b="1">
                <a:solidFill>
                  <a:srgbClr val="0A8F9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8FA6B-CE3F-42CB-BB07-1A80ABE1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E2637"/>
                </a:solidFill>
              </a:defRPr>
            </a:defPPr>
            <a:lvl1pPr>
              <a:defRPr sz="2175" b="1">
                <a:solidFill>
                  <a:srgbClr val="0E2637"/>
                </a:solidFill>
              </a:defRPr>
            </a:lvl1pPr>
            <a:lvl2pPr>
              <a:defRPr sz="2175" b="1">
                <a:solidFill>
                  <a:srgbClr val="0E2637"/>
                </a:solidFill>
              </a:defRPr>
            </a:lvl2pPr>
            <a:lvl3pPr>
              <a:defRPr sz="2175" b="1">
                <a:solidFill>
                  <a:srgbClr val="0E2637"/>
                </a:solidFill>
              </a:defRPr>
            </a:lvl3pPr>
            <a:lvl4pPr>
              <a:defRPr sz="2175" b="1">
                <a:solidFill>
                  <a:srgbClr val="0E2637"/>
                </a:solidFill>
              </a:defRPr>
            </a:lvl4pPr>
            <a:lvl5pPr>
              <a:defRPr sz="2175" b="1">
                <a:solidFill>
                  <a:srgbClr val="0E2637"/>
                </a:solidFill>
              </a:defRPr>
            </a:lvl5pPr>
            <a:lvl6pPr>
              <a:defRPr sz="2175" b="1">
                <a:solidFill>
                  <a:srgbClr val="0E2637"/>
                </a:solidFill>
              </a:defRPr>
            </a:lvl6pPr>
            <a:lvl7pPr>
              <a:defRPr sz="2175" b="1">
                <a:solidFill>
                  <a:srgbClr val="0E2637"/>
                </a:solidFill>
              </a:defRPr>
            </a:lvl7pPr>
            <a:lvl8pPr>
              <a:defRPr sz="2175" b="1">
                <a:solidFill>
                  <a:srgbClr val="0E2637"/>
                </a:solidFill>
              </a:defRPr>
            </a:lvl8pPr>
            <a:lvl9pPr>
              <a:defRPr sz="217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E2637"/>
                </a:solidFill>
              </a:defRPr>
            </a:pPr>
            <a:r>
              <a:rPr sz="2175" b="1">
                <a:solidFill>
                  <a:srgbClr val="0E2637"/>
                </a:solidFill>
              </a:rPr>
              <a:t>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8523A-0B23-4C34-8C5A-EBB10338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46572"/>
                </a:solidFill>
              </a:defRPr>
            </a:defPPr>
            <a:lvl1pPr>
              <a:defRPr sz="1575" b="0">
                <a:solidFill>
                  <a:srgbClr val="546572"/>
                </a:solidFill>
              </a:defRPr>
            </a:lvl1pPr>
            <a:lvl2pPr>
              <a:defRPr sz="1575" b="0">
                <a:solidFill>
                  <a:srgbClr val="546572"/>
                </a:solidFill>
              </a:defRPr>
            </a:lvl2pPr>
            <a:lvl3pPr>
              <a:defRPr sz="1575" b="0">
                <a:solidFill>
                  <a:srgbClr val="546572"/>
                </a:solidFill>
              </a:defRPr>
            </a:lvl3pPr>
            <a:lvl4pPr>
              <a:defRPr sz="1575" b="0">
                <a:solidFill>
                  <a:srgbClr val="546572"/>
                </a:solidFill>
              </a:defRPr>
            </a:lvl4pPr>
            <a:lvl5pPr>
              <a:defRPr sz="1575" b="0">
                <a:solidFill>
                  <a:srgbClr val="546572"/>
                </a:solidFill>
              </a:defRPr>
            </a:lvl5pPr>
            <a:lvl6pPr>
              <a:defRPr sz="1575" b="0">
                <a:solidFill>
                  <a:srgbClr val="546572"/>
                </a:solidFill>
              </a:defRPr>
            </a:lvl6pPr>
            <a:lvl7pPr>
              <a:defRPr sz="1575" b="0">
                <a:solidFill>
                  <a:srgbClr val="546572"/>
                </a:solidFill>
              </a:defRPr>
            </a:lvl7pPr>
            <a:lvl8pPr>
              <a:defRPr sz="1575" b="0">
                <a:solidFill>
                  <a:srgbClr val="546572"/>
                </a:solidFill>
              </a:defRPr>
            </a:lvl8pPr>
            <a:lvl9pPr>
              <a:defRPr sz="1575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46572"/>
                </a:solidFill>
              </a:defRPr>
            </a:pPr>
            <a:r>
              <a:rPr sz="1575" b="0">
                <a:solidFill>
                  <a:srgbClr val="546572"/>
                </a:solidFill>
              </a:rPr>
              <a:t>CSV/PDF/image upload. Staff confirms extracted invoice and receipt.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1A65F-EB1D-4A9E-BCE4-3F897179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A8F91"/>
                </a:solidFill>
              </a:defRPr>
            </a:defPPr>
            <a:lvl1pPr>
              <a:defRPr sz="2175" b="1">
                <a:solidFill>
                  <a:srgbClr val="0A8F91"/>
                </a:solidFill>
              </a:defRPr>
            </a:lvl1pPr>
            <a:lvl2pPr>
              <a:defRPr sz="2175" b="1">
                <a:solidFill>
                  <a:srgbClr val="0A8F91"/>
                </a:solidFill>
              </a:defRPr>
            </a:lvl2pPr>
            <a:lvl3pPr>
              <a:defRPr sz="2175" b="1">
                <a:solidFill>
                  <a:srgbClr val="0A8F91"/>
                </a:solidFill>
              </a:defRPr>
            </a:lvl3pPr>
            <a:lvl4pPr>
              <a:defRPr sz="2175" b="1">
                <a:solidFill>
                  <a:srgbClr val="0A8F91"/>
                </a:solidFill>
              </a:defRPr>
            </a:lvl4pPr>
            <a:lvl5pPr>
              <a:defRPr sz="2175" b="1">
                <a:solidFill>
                  <a:srgbClr val="0A8F91"/>
                </a:solidFill>
              </a:defRPr>
            </a:lvl5pPr>
            <a:lvl6pPr>
              <a:defRPr sz="2175" b="1">
                <a:solidFill>
                  <a:srgbClr val="0A8F91"/>
                </a:solidFill>
              </a:defRPr>
            </a:lvl6pPr>
            <a:lvl7pPr>
              <a:defRPr sz="2175" b="1">
                <a:solidFill>
                  <a:srgbClr val="0A8F91"/>
                </a:solidFill>
              </a:defRPr>
            </a:lvl7pPr>
            <a:lvl8pPr>
              <a:defRPr sz="2175" b="1">
                <a:solidFill>
                  <a:srgbClr val="0A8F91"/>
                </a:solidFill>
              </a:defRPr>
            </a:lvl8pPr>
            <a:lvl9pPr>
              <a:defRPr sz="2175" b="1">
                <a:solidFill>
                  <a:srgbClr val="0A8F91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A8F91"/>
                </a:solidFill>
              </a:defRPr>
            </a:pPr>
            <a:r>
              <a:rPr sz="2175" b="1">
                <a:solidFill>
                  <a:srgbClr val="0A8F91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5DD05-AA90-4BA4-ACD5-EE369C90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E2637"/>
                </a:solidFill>
              </a:defRPr>
            </a:defPPr>
            <a:lvl1pPr>
              <a:defRPr sz="2175" b="1">
                <a:solidFill>
                  <a:srgbClr val="0E2637"/>
                </a:solidFill>
              </a:defRPr>
            </a:lvl1pPr>
            <a:lvl2pPr>
              <a:defRPr sz="2175" b="1">
                <a:solidFill>
                  <a:srgbClr val="0E2637"/>
                </a:solidFill>
              </a:defRPr>
            </a:lvl2pPr>
            <a:lvl3pPr>
              <a:defRPr sz="2175" b="1">
                <a:solidFill>
                  <a:srgbClr val="0E2637"/>
                </a:solidFill>
              </a:defRPr>
            </a:lvl3pPr>
            <a:lvl4pPr>
              <a:defRPr sz="2175" b="1">
                <a:solidFill>
                  <a:srgbClr val="0E2637"/>
                </a:solidFill>
              </a:defRPr>
            </a:lvl4pPr>
            <a:lvl5pPr>
              <a:defRPr sz="2175" b="1">
                <a:solidFill>
                  <a:srgbClr val="0E2637"/>
                </a:solidFill>
              </a:defRPr>
            </a:lvl5pPr>
            <a:lvl6pPr>
              <a:defRPr sz="2175" b="1">
                <a:solidFill>
                  <a:srgbClr val="0E2637"/>
                </a:solidFill>
              </a:defRPr>
            </a:lvl6pPr>
            <a:lvl7pPr>
              <a:defRPr sz="2175" b="1">
                <a:solidFill>
                  <a:srgbClr val="0E2637"/>
                </a:solidFill>
              </a:defRPr>
            </a:lvl7pPr>
            <a:lvl8pPr>
              <a:defRPr sz="2175" b="1">
                <a:solidFill>
                  <a:srgbClr val="0E2637"/>
                </a:solidFill>
              </a:defRPr>
            </a:lvl8pPr>
            <a:lvl9pPr>
              <a:defRPr sz="217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E2637"/>
                </a:solidFill>
              </a:defRPr>
            </a:pPr>
            <a:r>
              <a:rPr sz="2175" b="1">
                <a:solidFill>
                  <a:srgbClr val="0E2637"/>
                </a:solidFill>
              </a:rPr>
              <a:t>Investigate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1A708-6631-40DB-B398-18153474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03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46572"/>
                </a:solidFill>
              </a:defRPr>
            </a:defPPr>
            <a:lvl1pPr>
              <a:defRPr sz="1575" b="0">
                <a:solidFill>
                  <a:srgbClr val="546572"/>
                </a:solidFill>
              </a:defRPr>
            </a:lvl1pPr>
            <a:lvl2pPr>
              <a:defRPr sz="1575" b="0">
                <a:solidFill>
                  <a:srgbClr val="546572"/>
                </a:solidFill>
              </a:defRPr>
            </a:lvl2pPr>
            <a:lvl3pPr>
              <a:defRPr sz="1575" b="0">
                <a:solidFill>
                  <a:srgbClr val="546572"/>
                </a:solidFill>
              </a:defRPr>
            </a:lvl3pPr>
            <a:lvl4pPr>
              <a:defRPr sz="1575" b="0">
                <a:solidFill>
                  <a:srgbClr val="546572"/>
                </a:solidFill>
              </a:defRPr>
            </a:lvl4pPr>
            <a:lvl5pPr>
              <a:defRPr sz="1575" b="0">
                <a:solidFill>
                  <a:srgbClr val="546572"/>
                </a:solidFill>
              </a:defRPr>
            </a:lvl5pPr>
            <a:lvl6pPr>
              <a:defRPr sz="1575" b="0">
                <a:solidFill>
                  <a:srgbClr val="546572"/>
                </a:solidFill>
              </a:defRPr>
            </a:lvl6pPr>
            <a:lvl7pPr>
              <a:defRPr sz="1575" b="0">
                <a:solidFill>
                  <a:srgbClr val="546572"/>
                </a:solidFill>
              </a:defRPr>
            </a:lvl7pPr>
            <a:lvl8pPr>
              <a:defRPr sz="1575" b="0">
                <a:solidFill>
                  <a:srgbClr val="546572"/>
                </a:solidFill>
              </a:defRPr>
            </a:lvl8pPr>
            <a:lvl9pPr>
              <a:defRPr sz="1575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46572"/>
                </a:solidFill>
              </a:defRPr>
            </a:pPr>
            <a:r>
              <a:rPr sz="1575" b="0">
                <a:solidFill>
                  <a:srgbClr val="546572"/>
                </a:solidFill>
              </a:rPr>
              <a:t>Match invoice, PO, payment and messages. Link each claim to a source.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0C1E6-A230-48B5-ACF3-546CD674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A8F91"/>
                </a:solidFill>
              </a:defRPr>
            </a:defPPr>
            <a:lvl1pPr>
              <a:defRPr sz="2175" b="1">
                <a:solidFill>
                  <a:srgbClr val="0A8F91"/>
                </a:solidFill>
              </a:defRPr>
            </a:lvl1pPr>
            <a:lvl2pPr>
              <a:defRPr sz="2175" b="1">
                <a:solidFill>
                  <a:srgbClr val="0A8F91"/>
                </a:solidFill>
              </a:defRPr>
            </a:lvl2pPr>
            <a:lvl3pPr>
              <a:defRPr sz="2175" b="1">
                <a:solidFill>
                  <a:srgbClr val="0A8F91"/>
                </a:solidFill>
              </a:defRPr>
            </a:lvl3pPr>
            <a:lvl4pPr>
              <a:defRPr sz="2175" b="1">
                <a:solidFill>
                  <a:srgbClr val="0A8F91"/>
                </a:solidFill>
              </a:defRPr>
            </a:lvl4pPr>
            <a:lvl5pPr>
              <a:defRPr sz="2175" b="1">
                <a:solidFill>
                  <a:srgbClr val="0A8F91"/>
                </a:solidFill>
              </a:defRPr>
            </a:lvl5pPr>
            <a:lvl6pPr>
              <a:defRPr sz="2175" b="1">
                <a:solidFill>
                  <a:srgbClr val="0A8F91"/>
                </a:solidFill>
              </a:defRPr>
            </a:lvl6pPr>
            <a:lvl7pPr>
              <a:defRPr sz="2175" b="1">
                <a:solidFill>
                  <a:srgbClr val="0A8F91"/>
                </a:solidFill>
              </a:defRPr>
            </a:lvl7pPr>
            <a:lvl8pPr>
              <a:defRPr sz="2175" b="1">
                <a:solidFill>
                  <a:srgbClr val="0A8F91"/>
                </a:solidFill>
              </a:defRPr>
            </a:lvl8pPr>
            <a:lvl9pPr>
              <a:defRPr sz="2175" b="1">
                <a:solidFill>
                  <a:srgbClr val="0A8F91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A8F91"/>
                </a:solidFill>
              </a:defRPr>
            </a:pPr>
            <a:r>
              <a:rPr sz="2175" b="1">
                <a:solidFill>
                  <a:srgbClr val="0A8F91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120D7-6665-4384-86F4-13C86C55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E2637"/>
                </a:solidFill>
              </a:defRPr>
            </a:defPPr>
            <a:lvl1pPr>
              <a:defRPr sz="2175" b="1">
                <a:solidFill>
                  <a:srgbClr val="0E2637"/>
                </a:solidFill>
              </a:defRPr>
            </a:lvl1pPr>
            <a:lvl2pPr>
              <a:defRPr sz="2175" b="1">
                <a:solidFill>
                  <a:srgbClr val="0E2637"/>
                </a:solidFill>
              </a:defRPr>
            </a:lvl2pPr>
            <a:lvl3pPr>
              <a:defRPr sz="2175" b="1">
                <a:solidFill>
                  <a:srgbClr val="0E2637"/>
                </a:solidFill>
              </a:defRPr>
            </a:lvl3pPr>
            <a:lvl4pPr>
              <a:defRPr sz="2175" b="1">
                <a:solidFill>
                  <a:srgbClr val="0E2637"/>
                </a:solidFill>
              </a:defRPr>
            </a:lvl4pPr>
            <a:lvl5pPr>
              <a:defRPr sz="2175" b="1">
                <a:solidFill>
                  <a:srgbClr val="0E2637"/>
                </a:solidFill>
              </a:defRPr>
            </a:lvl5pPr>
            <a:lvl6pPr>
              <a:defRPr sz="2175" b="1">
                <a:solidFill>
                  <a:srgbClr val="0E2637"/>
                </a:solidFill>
              </a:defRPr>
            </a:lvl6pPr>
            <a:lvl7pPr>
              <a:defRPr sz="2175" b="1">
                <a:solidFill>
                  <a:srgbClr val="0E2637"/>
                </a:solidFill>
              </a:defRPr>
            </a:lvl7pPr>
            <a:lvl8pPr>
              <a:defRPr sz="2175" b="1">
                <a:solidFill>
                  <a:srgbClr val="0E2637"/>
                </a:solidFill>
              </a:defRPr>
            </a:lvl8pPr>
            <a:lvl9pPr>
              <a:defRPr sz="217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E2637"/>
                </a:solidFill>
              </a:defRPr>
            </a:pPr>
            <a:r>
              <a:rPr sz="2175" b="1">
                <a:solidFill>
                  <a:srgbClr val="0E2637"/>
                </a:solidFill>
              </a:rPr>
              <a:t>Decide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6AADB-FCD3-4303-B378-301ED596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46572"/>
                </a:solidFill>
              </a:defRPr>
            </a:defPPr>
            <a:lvl1pPr>
              <a:defRPr sz="1575" b="0">
                <a:solidFill>
                  <a:srgbClr val="546572"/>
                </a:solidFill>
              </a:defRPr>
            </a:lvl1pPr>
            <a:lvl2pPr>
              <a:defRPr sz="1575" b="0">
                <a:solidFill>
                  <a:srgbClr val="546572"/>
                </a:solidFill>
              </a:defRPr>
            </a:lvl2pPr>
            <a:lvl3pPr>
              <a:defRPr sz="1575" b="0">
                <a:solidFill>
                  <a:srgbClr val="546572"/>
                </a:solidFill>
              </a:defRPr>
            </a:lvl3pPr>
            <a:lvl4pPr>
              <a:defRPr sz="1575" b="0">
                <a:solidFill>
                  <a:srgbClr val="546572"/>
                </a:solidFill>
              </a:defRPr>
            </a:lvl4pPr>
            <a:lvl5pPr>
              <a:defRPr sz="1575" b="0">
                <a:solidFill>
                  <a:srgbClr val="546572"/>
                </a:solidFill>
              </a:defRPr>
            </a:lvl5pPr>
            <a:lvl6pPr>
              <a:defRPr sz="1575" b="0">
                <a:solidFill>
                  <a:srgbClr val="546572"/>
                </a:solidFill>
              </a:defRPr>
            </a:lvl6pPr>
            <a:lvl7pPr>
              <a:defRPr sz="1575" b="0">
                <a:solidFill>
                  <a:srgbClr val="546572"/>
                </a:solidFill>
              </a:defRPr>
            </a:lvl7pPr>
            <a:lvl8pPr>
              <a:defRPr sz="1575" b="0">
                <a:solidFill>
                  <a:srgbClr val="546572"/>
                </a:solidFill>
              </a:defRPr>
            </a:lvl8pPr>
            <a:lvl9pPr>
              <a:defRPr sz="1575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46572"/>
                </a:solidFill>
              </a:defRPr>
            </a:pPr>
            <a:r>
              <a:rPr sz="1575" b="0">
                <a:solidFill>
                  <a:srgbClr val="546572"/>
                </a:solidFill>
              </a:rPr>
              <a:t>Server rules split the balance and bound the next 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6E44F-6ED7-4356-B4DE-E1E83945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A8F91"/>
                </a:solidFill>
              </a:defRPr>
            </a:defPPr>
            <a:lvl1pPr>
              <a:defRPr sz="2175" b="1">
                <a:solidFill>
                  <a:srgbClr val="0A8F91"/>
                </a:solidFill>
              </a:defRPr>
            </a:lvl1pPr>
            <a:lvl2pPr>
              <a:defRPr sz="2175" b="1">
                <a:solidFill>
                  <a:srgbClr val="0A8F91"/>
                </a:solidFill>
              </a:defRPr>
            </a:lvl2pPr>
            <a:lvl3pPr>
              <a:defRPr sz="2175" b="1">
                <a:solidFill>
                  <a:srgbClr val="0A8F91"/>
                </a:solidFill>
              </a:defRPr>
            </a:lvl3pPr>
            <a:lvl4pPr>
              <a:defRPr sz="2175" b="1">
                <a:solidFill>
                  <a:srgbClr val="0A8F91"/>
                </a:solidFill>
              </a:defRPr>
            </a:lvl4pPr>
            <a:lvl5pPr>
              <a:defRPr sz="2175" b="1">
                <a:solidFill>
                  <a:srgbClr val="0A8F91"/>
                </a:solidFill>
              </a:defRPr>
            </a:lvl5pPr>
            <a:lvl6pPr>
              <a:defRPr sz="2175" b="1">
                <a:solidFill>
                  <a:srgbClr val="0A8F91"/>
                </a:solidFill>
              </a:defRPr>
            </a:lvl6pPr>
            <a:lvl7pPr>
              <a:defRPr sz="2175" b="1">
                <a:solidFill>
                  <a:srgbClr val="0A8F91"/>
                </a:solidFill>
              </a:defRPr>
            </a:lvl7pPr>
            <a:lvl8pPr>
              <a:defRPr sz="2175" b="1">
                <a:solidFill>
                  <a:srgbClr val="0A8F91"/>
                </a:solidFill>
              </a:defRPr>
            </a:lvl8pPr>
            <a:lvl9pPr>
              <a:defRPr sz="2175" b="1">
                <a:solidFill>
                  <a:srgbClr val="0A8F91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A8F91"/>
                </a:solidFill>
              </a:defRPr>
            </a:pPr>
            <a:r>
              <a:rPr sz="2175" b="1">
                <a:solidFill>
                  <a:srgbClr val="0A8F91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01753-95C3-41ED-B9CD-5BD7F138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E2637"/>
                </a:solidFill>
              </a:defRPr>
            </a:defPPr>
            <a:lvl1pPr>
              <a:defRPr sz="2175" b="1">
                <a:solidFill>
                  <a:srgbClr val="0E2637"/>
                </a:solidFill>
              </a:defRPr>
            </a:lvl1pPr>
            <a:lvl2pPr>
              <a:defRPr sz="2175" b="1">
                <a:solidFill>
                  <a:srgbClr val="0E2637"/>
                </a:solidFill>
              </a:defRPr>
            </a:lvl2pPr>
            <a:lvl3pPr>
              <a:defRPr sz="2175" b="1">
                <a:solidFill>
                  <a:srgbClr val="0E2637"/>
                </a:solidFill>
              </a:defRPr>
            </a:lvl3pPr>
            <a:lvl4pPr>
              <a:defRPr sz="2175" b="1">
                <a:solidFill>
                  <a:srgbClr val="0E2637"/>
                </a:solidFill>
              </a:defRPr>
            </a:lvl4pPr>
            <a:lvl5pPr>
              <a:defRPr sz="2175" b="1">
                <a:solidFill>
                  <a:srgbClr val="0E2637"/>
                </a:solidFill>
              </a:defRPr>
            </a:lvl5pPr>
            <a:lvl6pPr>
              <a:defRPr sz="2175" b="1">
                <a:solidFill>
                  <a:srgbClr val="0E2637"/>
                </a:solidFill>
              </a:defRPr>
            </a:lvl6pPr>
            <a:lvl7pPr>
              <a:defRPr sz="2175" b="1">
                <a:solidFill>
                  <a:srgbClr val="0E2637"/>
                </a:solidFill>
              </a:defRPr>
            </a:lvl7pPr>
            <a:lvl8pPr>
              <a:defRPr sz="2175" b="1">
                <a:solidFill>
                  <a:srgbClr val="0E2637"/>
                </a:solidFill>
              </a:defRPr>
            </a:lvl8pPr>
            <a:lvl9pPr>
              <a:defRPr sz="217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E2637"/>
                </a:solidFill>
              </a:defRPr>
            </a:pPr>
            <a:r>
              <a:rPr sz="2175" b="1">
                <a:solidFill>
                  <a:srgbClr val="0E2637"/>
                </a:solidFill>
              </a:rPr>
              <a:t>Approve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BBCBB-28AE-45D3-9173-7FCDA592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434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46572"/>
                </a:solidFill>
              </a:defRPr>
            </a:defPPr>
            <a:lvl1pPr>
              <a:defRPr sz="1575" b="0">
                <a:solidFill>
                  <a:srgbClr val="546572"/>
                </a:solidFill>
              </a:defRPr>
            </a:lvl1pPr>
            <a:lvl2pPr>
              <a:defRPr sz="1575" b="0">
                <a:solidFill>
                  <a:srgbClr val="546572"/>
                </a:solidFill>
              </a:defRPr>
            </a:lvl2pPr>
            <a:lvl3pPr>
              <a:defRPr sz="1575" b="0">
                <a:solidFill>
                  <a:srgbClr val="546572"/>
                </a:solidFill>
              </a:defRPr>
            </a:lvl3pPr>
            <a:lvl4pPr>
              <a:defRPr sz="1575" b="0">
                <a:solidFill>
                  <a:srgbClr val="546572"/>
                </a:solidFill>
              </a:defRPr>
            </a:lvl4pPr>
            <a:lvl5pPr>
              <a:defRPr sz="1575" b="0">
                <a:solidFill>
                  <a:srgbClr val="546572"/>
                </a:solidFill>
              </a:defRPr>
            </a:lvl5pPr>
            <a:lvl6pPr>
              <a:defRPr sz="1575" b="0">
                <a:solidFill>
                  <a:srgbClr val="546572"/>
                </a:solidFill>
              </a:defRPr>
            </a:lvl6pPr>
            <a:lvl7pPr>
              <a:defRPr sz="1575" b="0">
                <a:solidFill>
                  <a:srgbClr val="546572"/>
                </a:solidFill>
              </a:defRPr>
            </a:lvl7pPr>
            <a:lvl8pPr>
              <a:defRPr sz="1575" b="0">
                <a:solidFill>
                  <a:srgbClr val="546572"/>
                </a:solidFill>
              </a:defRPr>
            </a:lvl8pPr>
            <a:lvl9pPr>
              <a:defRPr sz="1575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46572"/>
                </a:solidFill>
              </a:defRPr>
            </a:pPr>
            <a:r>
              <a:rPr sz="1575" b="0">
                <a:solidFill>
                  <a:srgbClr val="546572"/>
                </a:solidFill>
              </a:rPr>
              <a:t>Staff edits or approves the exact draft version for the sandbox.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CAEC4-4D10-4B7B-9F92-DDD26CBC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A8F91"/>
                </a:solidFill>
              </a:defRPr>
            </a:defPPr>
            <a:lvl1pPr>
              <a:defRPr sz="2175" b="1">
                <a:solidFill>
                  <a:srgbClr val="0A8F91"/>
                </a:solidFill>
              </a:defRPr>
            </a:lvl1pPr>
            <a:lvl2pPr>
              <a:defRPr sz="2175" b="1">
                <a:solidFill>
                  <a:srgbClr val="0A8F91"/>
                </a:solidFill>
              </a:defRPr>
            </a:lvl2pPr>
            <a:lvl3pPr>
              <a:defRPr sz="2175" b="1">
                <a:solidFill>
                  <a:srgbClr val="0A8F91"/>
                </a:solidFill>
              </a:defRPr>
            </a:lvl3pPr>
            <a:lvl4pPr>
              <a:defRPr sz="2175" b="1">
                <a:solidFill>
                  <a:srgbClr val="0A8F91"/>
                </a:solidFill>
              </a:defRPr>
            </a:lvl4pPr>
            <a:lvl5pPr>
              <a:defRPr sz="2175" b="1">
                <a:solidFill>
                  <a:srgbClr val="0A8F91"/>
                </a:solidFill>
              </a:defRPr>
            </a:lvl5pPr>
            <a:lvl6pPr>
              <a:defRPr sz="2175" b="1">
                <a:solidFill>
                  <a:srgbClr val="0A8F91"/>
                </a:solidFill>
              </a:defRPr>
            </a:lvl6pPr>
            <a:lvl7pPr>
              <a:defRPr sz="2175" b="1">
                <a:solidFill>
                  <a:srgbClr val="0A8F91"/>
                </a:solidFill>
              </a:defRPr>
            </a:lvl7pPr>
            <a:lvl8pPr>
              <a:defRPr sz="2175" b="1">
                <a:solidFill>
                  <a:srgbClr val="0A8F91"/>
                </a:solidFill>
              </a:defRPr>
            </a:lvl8pPr>
            <a:lvl9pPr>
              <a:defRPr sz="2175" b="1">
                <a:solidFill>
                  <a:srgbClr val="0A8F91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A8F91"/>
                </a:solidFill>
              </a:defRPr>
            </a:pPr>
            <a:r>
              <a:rPr sz="2175" b="1">
                <a:solidFill>
                  <a:srgbClr val="0A8F91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1DC66-80B1-496D-B24E-454409FA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E2637"/>
                </a:solidFill>
              </a:defRPr>
            </a:defPPr>
            <a:lvl1pPr>
              <a:defRPr sz="2175" b="1">
                <a:solidFill>
                  <a:srgbClr val="0E2637"/>
                </a:solidFill>
              </a:defRPr>
            </a:lvl1pPr>
            <a:lvl2pPr>
              <a:defRPr sz="2175" b="1">
                <a:solidFill>
                  <a:srgbClr val="0E2637"/>
                </a:solidFill>
              </a:defRPr>
            </a:lvl2pPr>
            <a:lvl3pPr>
              <a:defRPr sz="2175" b="1">
                <a:solidFill>
                  <a:srgbClr val="0E2637"/>
                </a:solidFill>
              </a:defRPr>
            </a:lvl3pPr>
            <a:lvl4pPr>
              <a:defRPr sz="2175" b="1">
                <a:solidFill>
                  <a:srgbClr val="0E2637"/>
                </a:solidFill>
              </a:defRPr>
            </a:lvl4pPr>
            <a:lvl5pPr>
              <a:defRPr sz="2175" b="1">
                <a:solidFill>
                  <a:srgbClr val="0E2637"/>
                </a:solidFill>
              </a:defRPr>
            </a:lvl5pPr>
            <a:lvl6pPr>
              <a:defRPr sz="2175" b="1">
                <a:solidFill>
                  <a:srgbClr val="0E2637"/>
                </a:solidFill>
              </a:defRPr>
            </a:lvl6pPr>
            <a:lvl7pPr>
              <a:defRPr sz="2175" b="1">
                <a:solidFill>
                  <a:srgbClr val="0E2637"/>
                </a:solidFill>
              </a:defRPr>
            </a:lvl7pPr>
            <a:lvl8pPr>
              <a:defRPr sz="2175" b="1">
                <a:solidFill>
                  <a:srgbClr val="0E2637"/>
                </a:solidFill>
              </a:defRPr>
            </a:lvl8pPr>
            <a:lvl9pPr>
              <a:defRPr sz="217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E2637"/>
                </a:solidFill>
              </a:defRPr>
            </a:pPr>
            <a:r>
              <a:rPr sz="2175" b="1">
                <a:solidFill>
                  <a:srgbClr val="0E2637"/>
                </a:solidFill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55B27-9CDA-4DFE-BBB6-4B049FEA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1495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46572"/>
                </a:solidFill>
              </a:defRPr>
            </a:defPPr>
            <a:lvl1pPr>
              <a:defRPr sz="1575" b="0">
                <a:solidFill>
                  <a:srgbClr val="546572"/>
                </a:solidFill>
              </a:defRPr>
            </a:lvl1pPr>
            <a:lvl2pPr>
              <a:defRPr sz="1575" b="0">
                <a:solidFill>
                  <a:srgbClr val="546572"/>
                </a:solidFill>
              </a:defRPr>
            </a:lvl2pPr>
            <a:lvl3pPr>
              <a:defRPr sz="1575" b="0">
                <a:solidFill>
                  <a:srgbClr val="546572"/>
                </a:solidFill>
              </a:defRPr>
            </a:lvl3pPr>
            <a:lvl4pPr>
              <a:defRPr sz="1575" b="0">
                <a:solidFill>
                  <a:srgbClr val="546572"/>
                </a:solidFill>
              </a:defRPr>
            </a:lvl4pPr>
            <a:lvl5pPr>
              <a:defRPr sz="1575" b="0">
                <a:solidFill>
                  <a:srgbClr val="546572"/>
                </a:solidFill>
              </a:defRPr>
            </a:lvl5pPr>
            <a:lvl6pPr>
              <a:defRPr sz="1575" b="0">
                <a:solidFill>
                  <a:srgbClr val="546572"/>
                </a:solidFill>
              </a:defRPr>
            </a:lvl6pPr>
            <a:lvl7pPr>
              <a:defRPr sz="1575" b="0">
                <a:solidFill>
                  <a:srgbClr val="546572"/>
                </a:solidFill>
              </a:defRPr>
            </a:lvl7pPr>
            <a:lvl8pPr>
              <a:defRPr sz="1575" b="0">
                <a:solidFill>
                  <a:srgbClr val="546572"/>
                </a:solidFill>
              </a:defRPr>
            </a:lvl8pPr>
            <a:lvl9pPr>
              <a:defRPr sz="1575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46572"/>
                </a:solidFill>
              </a:defRPr>
            </a:pPr>
            <a:r>
              <a:rPr sz="1575" b="0">
                <a:solidFill>
                  <a:srgbClr val="546572"/>
                </a:solidFill>
              </a:rPr>
              <a:t>Only a matched SIMULATED payment updates the ledger and case state.</a:t>
            </a:r>
          </a:p>
        </p:txBody>
      </p:sp>
    </p:spTree>
    <p:extLst>
      <p:ext uri="{BB962C8B-B14F-4D97-AF65-F5344CB8AC3E}">
        <p14:creationId xmlns:p14="http://schemas.microsoft.com/office/powerpoint/2010/main" val="7203490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13FBF-36A1-4BB5-9964-F7EE7CD2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0E2637"/>
                </a:solidFill>
              </a:defRPr>
            </a:defPPr>
            <a:lvl1pPr>
              <a:defRPr sz="2700" b="1">
                <a:solidFill>
                  <a:srgbClr val="0E2637"/>
                </a:solidFill>
              </a:defRPr>
            </a:lvl1pPr>
            <a:lvl2pPr>
              <a:defRPr sz="2700" b="1">
                <a:solidFill>
                  <a:srgbClr val="0E2637"/>
                </a:solidFill>
              </a:defRPr>
            </a:lvl2pPr>
            <a:lvl3pPr>
              <a:defRPr sz="2700" b="1">
                <a:solidFill>
                  <a:srgbClr val="0E2637"/>
                </a:solidFill>
              </a:defRPr>
            </a:lvl3pPr>
            <a:lvl4pPr>
              <a:defRPr sz="2700" b="1">
                <a:solidFill>
                  <a:srgbClr val="0E2637"/>
                </a:solidFill>
              </a:defRPr>
            </a:lvl4pPr>
            <a:lvl5pPr>
              <a:defRPr sz="2700" b="1">
                <a:solidFill>
                  <a:srgbClr val="0E2637"/>
                </a:solidFill>
              </a:defRPr>
            </a:lvl5pPr>
            <a:lvl6pPr>
              <a:defRPr sz="2700" b="1">
                <a:solidFill>
                  <a:srgbClr val="0E2637"/>
                </a:solidFill>
              </a:defRPr>
            </a:lvl6pPr>
            <a:lvl7pPr>
              <a:defRPr sz="2700" b="1">
                <a:solidFill>
                  <a:srgbClr val="0E2637"/>
                </a:solidFill>
              </a:defRPr>
            </a:lvl7pPr>
            <a:lvl8pPr>
              <a:defRPr sz="2700" b="1">
                <a:solidFill>
                  <a:srgbClr val="0E2637"/>
                </a:solidFill>
              </a:defRPr>
            </a:lvl8pPr>
            <a:lvl9pPr>
              <a:defRPr sz="270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E2637"/>
                </a:solidFill>
              </a:defRPr>
            </a:pPr>
            <a:r>
              <a:rPr sz="2700" b="1">
                <a:solidFill>
                  <a:srgbClr val="0E2637"/>
                </a:solidFill>
              </a:rPr>
              <a:t>The case file makes the split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6A0DF-A44D-48CA-BFE7-7A2E4CC1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46572"/>
                </a:solidFill>
              </a:defRPr>
            </a:defPPr>
            <a:lvl1pPr>
              <a:defRPr sz="975" b="1">
                <a:solidFill>
                  <a:srgbClr val="546572"/>
                </a:solidFill>
              </a:defRPr>
            </a:lvl1pPr>
            <a:lvl2pPr>
              <a:defRPr sz="975" b="1">
                <a:solidFill>
                  <a:srgbClr val="546572"/>
                </a:solidFill>
              </a:defRPr>
            </a:lvl2pPr>
            <a:lvl3pPr>
              <a:defRPr sz="975" b="1">
                <a:solidFill>
                  <a:srgbClr val="546572"/>
                </a:solidFill>
              </a:defRPr>
            </a:lvl3pPr>
            <a:lvl4pPr>
              <a:defRPr sz="975" b="1">
                <a:solidFill>
                  <a:srgbClr val="546572"/>
                </a:solidFill>
              </a:defRPr>
            </a:lvl4pPr>
            <a:lvl5pPr>
              <a:defRPr sz="975" b="1">
                <a:solidFill>
                  <a:srgbClr val="546572"/>
                </a:solidFill>
              </a:defRPr>
            </a:lvl5pPr>
            <a:lvl6pPr>
              <a:defRPr sz="975" b="1">
                <a:solidFill>
                  <a:srgbClr val="546572"/>
                </a:solidFill>
              </a:defRPr>
            </a:lvl6pPr>
            <a:lvl7pPr>
              <a:defRPr sz="975" b="1">
                <a:solidFill>
                  <a:srgbClr val="546572"/>
                </a:solidFill>
              </a:defRPr>
            </a:lvl7pPr>
            <a:lvl8pPr>
              <a:defRPr sz="975" b="1">
                <a:solidFill>
                  <a:srgbClr val="546572"/>
                </a:solidFill>
              </a:defRPr>
            </a:lvl8pPr>
            <a:lvl9pPr>
              <a:defRPr sz="975" b="1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46572"/>
                </a:solidFill>
              </a:defRPr>
            </a:pPr>
            <a:r>
              <a:rPr sz="975" b="1">
                <a:solidFill>
                  <a:srgbClr val="546572"/>
                </a:solidFill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A4A8F-2FC1-4C36-94FC-A3B8CBAE3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5af55f9e24d8a"/>
          <a:stretch xmlns:a="http://schemas.openxmlformats.org/drawingml/2006/main"/>
        </p:blipFill>
        <p:spPr>
          <a:xfrm xmlns:a="http://schemas.openxmlformats.org/drawingml/2006/main">
            <a:off x="552450" y="1684585"/>
            <a:ext cx="11087100" cy="322213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B22B8-052D-45AE-9188-2E2CD3A8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054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0E2637"/>
                </a:solidFill>
              </a:defRPr>
            </a:defPPr>
            <a:lvl1pPr>
              <a:defRPr sz="1725" b="0">
                <a:solidFill>
                  <a:srgbClr val="0E2637"/>
                </a:solidFill>
              </a:defRPr>
            </a:lvl1pPr>
            <a:lvl2pPr>
              <a:defRPr sz="1725" b="0">
                <a:solidFill>
                  <a:srgbClr val="0E2637"/>
                </a:solidFill>
              </a:defRPr>
            </a:lvl2pPr>
            <a:lvl3pPr>
              <a:defRPr sz="1725" b="0">
                <a:solidFill>
                  <a:srgbClr val="0E2637"/>
                </a:solidFill>
              </a:defRPr>
            </a:lvl3pPr>
            <a:lvl4pPr>
              <a:defRPr sz="1725" b="0">
                <a:solidFill>
                  <a:srgbClr val="0E2637"/>
                </a:solidFill>
              </a:defRPr>
            </a:lvl4pPr>
            <a:lvl5pPr>
              <a:defRPr sz="1725" b="0">
                <a:solidFill>
                  <a:srgbClr val="0E2637"/>
                </a:solidFill>
              </a:defRPr>
            </a:lvl5pPr>
            <a:lvl6pPr>
              <a:defRPr sz="1725" b="0">
                <a:solidFill>
                  <a:srgbClr val="0E2637"/>
                </a:solidFill>
              </a:defRPr>
            </a:lvl6pPr>
            <a:lvl7pPr>
              <a:defRPr sz="1725" b="0">
                <a:solidFill>
                  <a:srgbClr val="0E2637"/>
                </a:solidFill>
              </a:defRPr>
            </a:lvl7pPr>
            <a:lvl8pPr>
              <a:defRPr sz="1725" b="0">
                <a:solidFill>
                  <a:srgbClr val="0E2637"/>
                </a:solidFill>
              </a:defRPr>
            </a:lvl8pPr>
            <a:lvl9pPr>
              <a:defRPr sz="1725" b="0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E2637"/>
                </a:solidFill>
              </a:defRPr>
            </a:pPr>
            <a:r>
              <a:rPr sz="1725" b="0">
                <a:solidFill>
                  <a:srgbClr val="0E2637"/>
                </a:solidFill>
              </a:rPr>
              <a:t>Each figure has a source control. The ₹30,000 dispute stays on hold while the ₹60,000 request can advance.</a:t>
            </a:r>
          </a:p>
        </p:txBody>
      </p:sp>
    </p:spTree>
    <p:extLst>
      <p:ext uri="{BB962C8B-B14F-4D97-AF65-F5344CB8AC3E}">
        <p14:creationId xmlns:p14="http://schemas.microsoft.com/office/powerpoint/2010/main" val="1059864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A2628-B6DF-453D-B2A6-51FF411D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0E2637"/>
                </a:solidFill>
              </a:defRPr>
            </a:defPPr>
            <a:lvl1pPr>
              <a:defRPr sz="2700" b="1">
                <a:solidFill>
                  <a:srgbClr val="0E2637"/>
                </a:solidFill>
              </a:defRPr>
            </a:lvl1pPr>
            <a:lvl2pPr>
              <a:defRPr sz="2700" b="1">
                <a:solidFill>
                  <a:srgbClr val="0E2637"/>
                </a:solidFill>
              </a:defRPr>
            </a:lvl2pPr>
            <a:lvl3pPr>
              <a:defRPr sz="2700" b="1">
                <a:solidFill>
                  <a:srgbClr val="0E2637"/>
                </a:solidFill>
              </a:defRPr>
            </a:lvl3pPr>
            <a:lvl4pPr>
              <a:defRPr sz="2700" b="1">
                <a:solidFill>
                  <a:srgbClr val="0E2637"/>
                </a:solidFill>
              </a:defRPr>
            </a:lvl4pPr>
            <a:lvl5pPr>
              <a:defRPr sz="2700" b="1">
                <a:solidFill>
                  <a:srgbClr val="0E2637"/>
                </a:solidFill>
              </a:defRPr>
            </a:lvl5pPr>
            <a:lvl6pPr>
              <a:defRPr sz="2700" b="1">
                <a:solidFill>
                  <a:srgbClr val="0E2637"/>
                </a:solidFill>
              </a:defRPr>
            </a:lvl6pPr>
            <a:lvl7pPr>
              <a:defRPr sz="2700" b="1">
                <a:solidFill>
                  <a:srgbClr val="0E2637"/>
                </a:solidFill>
              </a:defRPr>
            </a:lvl7pPr>
            <a:lvl8pPr>
              <a:defRPr sz="2700" b="1">
                <a:solidFill>
                  <a:srgbClr val="0E2637"/>
                </a:solidFill>
              </a:defRPr>
            </a:lvl8pPr>
            <a:lvl9pPr>
              <a:defRPr sz="270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E2637"/>
                </a:solidFill>
              </a:defRPr>
            </a:pPr>
            <a:r>
              <a:rPr sz="2700" b="1">
                <a:solidFill>
                  <a:srgbClr val="0E2637"/>
                </a:solidFill>
              </a:rPr>
              <a:t>Claims are traceable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69AD2-F5A8-4896-9D2B-89CBC292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46572"/>
                </a:solidFill>
              </a:defRPr>
            </a:defPPr>
            <a:lvl1pPr>
              <a:defRPr sz="975" b="1">
                <a:solidFill>
                  <a:srgbClr val="546572"/>
                </a:solidFill>
              </a:defRPr>
            </a:lvl1pPr>
            <a:lvl2pPr>
              <a:defRPr sz="975" b="1">
                <a:solidFill>
                  <a:srgbClr val="546572"/>
                </a:solidFill>
              </a:defRPr>
            </a:lvl2pPr>
            <a:lvl3pPr>
              <a:defRPr sz="975" b="1">
                <a:solidFill>
                  <a:srgbClr val="546572"/>
                </a:solidFill>
              </a:defRPr>
            </a:lvl3pPr>
            <a:lvl4pPr>
              <a:defRPr sz="975" b="1">
                <a:solidFill>
                  <a:srgbClr val="546572"/>
                </a:solidFill>
              </a:defRPr>
            </a:lvl4pPr>
            <a:lvl5pPr>
              <a:defRPr sz="975" b="1">
                <a:solidFill>
                  <a:srgbClr val="546572"/>
                </a:solidFill>
              </a:defRPr>
            </a:lvl5pPr>
            <a:lvl6pPr>
              <a:defRPr sz="975" b="1">
                <a:solidFill>
                  <a:srgbClr val="546572"/>
                </a:solidFill>
              </a:defRPr>
            </a:lvl6pPr>
            <a:lvl7pPr>
              <a:defRPr sz="975" b="1">
                <a:solidFill>
                  <a:srgbClr val="546572"/>
                </a:solidFill>
              </a:defRPr>
            </a:lvl7pPr>
            <a:lvl8pPr>
              <a:defRPr sz="975" b="1">
                <a:solidFill>
                  <a:srgbClr val="546572"/>
                </a:solidFill>
              </a:defRPr>
            </a:lvl8pPr>
            <a:lvl9pPr>
              <a:defRPr sz="975" b="1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46572"/>
                </a:solidFill>
              </a:defRPr>
            </a:pPr>
            <a:r>
              <a:rPr sz="975" b="1">
                <a:solidFill>
                  <a:srgbClr val="546572"/>
                </a:solidFill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79304-5438-4FD6-A8E3-EA8A487B71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4e5193950439e"/>
          <a:stretch xmlns:a="http://schemas.openxmlformats.org/drawingml/2006/main"/>
        </p:blipFill>
        <p:spPr>
          <a:xfrm xmlns:a="http://schemas.openxmlformats.org/drawingml/2006/main">
            <a:off x="1738065" y="1343025"/>
            <a:ext cx="338187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47CC7-6C03-4BEB-BADA-D44A29D2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526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E2637"/>
                </a:solidFill>
              </a:defRPr>
            </a:defPPr>
            <a:lvl1pPr>
              <a:defRPr sz="2175" b="1">
                <a:solidFill>
                  <a:srgbClr val="0E2637"/>
                </a:solidFill>
              </a:defRPr>
            </a:lvl1pPr>
            <a:lvl2pPr>
              <a:defRPr sz="2175" b="1">
                <a:solidFill>
                  <a:srgbClr val="0E2637"/>
                </a:solidFill>
              </a:defRPr>
            </a:lvl2pPr>
            <a:lvl3pPr>
              <a:defRPr sz="2175" b="1">
                <a:solidFill>
                  <a:srgbClr val="0E2637"/>
                </a:solidFill>
              </a:defRPr>
            </a:lvl3pPr>
            <a:lvl4pPr>
              <a:defRPr sz="2175" b="1">
                <a:solidFill>
                  <a:srgbClr val="0E2637"/>
                </a:solidFill>
              </a:defRPr>
            </a:lvl4pPr>
            <a:lvl5pPr>
              <a:defRPr sz="2175" b="1">
                <a:solidFill>
                  <a:srgbClr val="0E2637"/>
                </a:solidFill>
              </a:defRPr>
            </a:lvl5pPr>
            <a:lvl6pPr>
              <a:defRPr sz="2175" b="1">
                <a:solidFill>
                  <a:srgbClr val="0E2637"/>
                </a:solidFill>
              </a:defRPr>
            </a:lvl6pPr>
            <a:lvl7pPr>
              <a:defRPr sz="2175" b="1">
                <a:solidFill>
                  <a:srgbClr val="0E2637"/>
                </a:solidFill>
              </a:defRPr>
            </a:lvl7pPr>
            <a:lvl8pPr>
              <a:defRPr sz="2175" b="1">
                <a:solidFill>
                  <a:srgbClr val="0E2637"/>
                </a:solidFill>
              </a:defRPr>
            </a:lvl8pPr>
            <a:lvl9pPr>
              <a:defRPr sz="217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E2637"/>
                </a:solidFill>
              </a:defRPr>
            </a:pPr>
            <a:r>
              <a:rPr sz="2175" b="1">
                <a:solidFill>
                  <a:srgbClr val="0E2637"/>
                </a:solidFill>
              </a:rPr>
              <a:t>Invoice 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CDD8B-8A0B-4AF4-AF31-43CA7554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574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E2637"/>
                </a:solidFill>
              </a:defRPr>
            </a:defPPr>
            <a:lvl1pPr>
              <a:defRPr sz="2175" b="1">
                <a:solidFill>
                  <a:srgbClr val="0E2637"/>
                </a:solidFill>
              </a:defRPr>
            </a:lvl1pPr>
            <a:lvl2pPr>
              <a:defRPr sz="2175" b="1">
                <a:solidFill>
                  <a:srgbClr val="0E2637"/>
                </a:solidFill>
              </a:defRPr>
            </a:lvl2pPr>
            <a:lvl3pPr>
              <a:defRPr sz="2175" b="1">
                <a:solidFill>
                  <a:srgbClr val="0E2637"/>
                </a:solidFill>
              </a:defRPr>
            </a:lvl3pPr>
            <a:lvl4pPr>
              <a:defRPr sz="2175" b="1">
                <a:solidFill>
                  <a:srgbClr val="0E2637"/>
                </a:solidFill>
              </a:defRPr>
            </a:lvl4pPr>
            <a:lvl5pPr>
              <a:defRPr sz="2175" b="1">
                <a:solidFill>
                  <a:srgbClr val="0E2637"/>
                </a:solidFill>
              </a:defRPr>
            </a:lvl5pPr>
            <a:lvl6pPr>
              <a:defRPr sz="2175" b="1">
                <a:solidFill>
                  <a:srgbClr val="0E2637"/>
                </a:solidFill>
              </a:defRPr>
            </a:lvl6pPr>
            <a:lvl7pPr>
              <a:defRPr sz="2175" b="1">
                <a:solidFill>
                  <a:srgbClr val="0E2637"/>
                </a:solidFill>
              </a:defRPr>
            </a:lvl7pPr>
            <a:lvl8pPr>
              <a:defRPr sz="2175" b="1">
                <a:solidFill>
                  <a:srgbClr val="0E2637"/>
                </a:solidFill>
              </a:defRPr>
            </a:lvl8pPr>
            <a:lvl9pPr>
              <a:defRPr sz="217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E2637"/>
                </a:solidFill>
              </a:defRPr>
            </a:pPr>
            <a:r>
              <a:rPr sz="2175" b="1">
                <a:solidFill>
                  <a:srgbClr val="0E2637"/>
                </a:solidFill>
              </a:rPr>
              <a:t>Purchase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59670-4FC3-4F82-B378-1242CBB5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E2637"/>
                </a:solidFill>
              </a:defRPr>
            </a:defPPr>
            <a:lvl1pPr>
              <a:defRPr sz="2175" b="1">
                <a:solidFill>
                  <a:srgbClr val="0E2637"/>
                </a:solidFill>
              </a:defRPr>
            </a:lvl1pPr>
            <a:lvl2pPr>
              <a:defRPr sz="2175" b="1">
                <a:solidFill>
                  <a:srgbClr val="0E2637"/>
                </a:solidFill>
              </a:defRPr>
            </a:lvl2pPr>
            <a:lvl3pPr>
              <a:defRPr sz="2175" b="1">
                <a:solidFill>
                  <a:srgbClr val="0E2637"/>
                </a:solidFill>
              </a:defRPr>
            </a:lvl3pPr>
            <a:lvl4pPr>
              <a:defRPr sz="2175" b="1">
                <a:solidFill>
                  <a:srgbClr val="0E2637"/>
                </a:solidFill>
              </a:defRPr>
            </a:lvl4pPr>
            <a:lvl5pPr>
              <a:defRPr sz="2175" b="1">
                <a:solidFill>
                  <a:srgbClr val="0E2637"/>
                </a:solidFill>
              </a:defRPr>
            </a:lvl5pPr>
            <a:lvl6pPr>
              <a:defRPr sz="2175" b="1">
                <a:solidFill>
                  <a:srgbClr val="0E2637"/>
                </a:solidFill>
              </a:defRPr>
            </a:lvl6pPr>
            <a:lvl7pPr>
              <a:defRPr sz="2175" b="1">
                <a:solidFill>
                  <a:srgbClr val="0E2637"/>
                </a:solidFill>
              </a:defRPr>
            </a:lvl7pPr>
            <a:lvl8pPr>
              <a:defRPr sz="2175" b="1">
                <a:solidFill>
                  <a:srgbClr val="0E2637"/>
                </a:solidFill>
              </a:defRPr>
            </a:lvl8pPr>
            <a:lvl9pPr>
              <a:defRPr sz="217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E2637"/>
                </a:solidFill>
              </a:defRPr>
            </a:pPr>
            <a:r>
              <a:rPr sz="2175" b="1">
                <a:solidFill>
                  <a:srgbClr val="0E2637"/>
                </a:solidFill>
              </a:rPr>
              <a:t>Payment receipt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75DB7-23F0-4DDC-ABCD-3D6D819C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6722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E2637"/>
                </a:solidFill>
              </a:defRPr>
            </a:defPPr>
            <a:lvl1pPr>
              <a:defRPr sz="2175" b="1">
                <a:solidFill>
                  <a:srgbClr val="0E2637"/>
                </a:solidFill>
              </a:defRPr>
            </a:lvl1pPr>
            <a:lvl2pPr>
              <a:defRPr sz="2175" b="1">
                <a:solidFill>
                  <a:srgbClr val="0E2637"/>
                </a:solidFill>
              </a:defRPr>
            </a:lvl2pPr>
            <a:lvl3pPr>
              <a:defRPr sz="2175" b="1">
                <a:solidFill>
                  <a:srgbClr val="0E2637"/>
                </a:solidFill>
              </a:defRPr>
            </a:lvl3pPr>
            <a:lvl4pPr>
              <a:defRPr sz="2175" b="1">
                <a:solidFill>
                  <a:srgbClr val="0E2637"/>
                </a:solidFill>
              </a:defRPr>
            </a:lvl4pPr>
            <a:lvl5pPr>
              <a:defRPr sz="2175" b="1">
                <a:solidFill>
                  <a:srgbClr val="0E2637"/>
                </a:solidFill>
              </a:defRPr>
            </a:lvl5pPr>
            <a:lvl6pPr>
              <a:defRPr sz="2175" b="1">
                <a:solidFill>
                  <a:srgbClr val="0E2637"/>
                </a:solidFill>
              </a:defRPr>
            </a:lvl6pPr>
            <a:lvl7pPr>
              <a:defRPr sz="2175" b="1">
                <a:solidFill>
                  <a:srgbClr val="0E2637"/>
                </a:solidFill>
              </a:defRPr>
            </a:lvl7pPr>
            <a:lvl8pPr>
              <a:defRPr sz="2175" b="1">
                <a:solidFill>
                  <a:srgbClr val="0E2637"/>
                </a:solidFill>
              </a:defRPr>
            </a:lvl8pPr>
            <a:lvl9pPr>
              <a:defRPr sz="217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E2637"/>
                </a:solidFill>
              </a:defRPr>
            </a:pPr>
            <a:r>
              <a:rPr sz="2175" b="1">
                <a:solidFill>
                  <a:srgbClr val="0E2637"/>
                </a:solidFill>
              </a:rPr>
              <a:t>Customer dispute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F5077-3E8E-4DEF-B4C4-90B4E5F6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A8F91"/>
                </a:solidFill>
              </a:defRPr>
            </a:defPPr>
            <a:lvl1pPr>
              <a:defRPr sz="2175" b="1">
                <a:solidFill>
                  <a:srgbClr val="0A8F91"/>
                </a:solidFill>
              </a:defRPr>
            </a:lvl1pPr>
            <a:lvl2pPr>
              <a:defRPr sz="2175" b="1">
                <a:solidFill>
                  <a:srgbClr val="0A8F91"/>
                </a:solidFill>
              </a:defRPr>
            </a:lvl2pPr>
            <a:lvl3pPr>
              <a:defRPr sz="2175" b="1">
                <a:solidFill>
                  <a:srgbClr val="0A8F91"/>
                </a:solidFill>
              </a:defRPr>
            </a:lvl3pPr>
            <a:lvl4pPr>
              <a:defRPr sz="2175" b="1">
                <a:solidFill>
                  <a:srgbClr val="0A8F91"/>
                </a:solidFill>
              </a:defRPr>
            </a:lvl4pPr>
            <a:lvl5pPr>
              <a:defRPr sz="2175" b="1">
                <a:solidFill>
                  <a:srgbClr val="0A8F91"/>
                </a:solidFill>
              </a:defRPr>
            </a:lvl5pPr>
            <a:lvl6pPr>
              <a:defRPr sz="2175" b="1">
                <a:solidFill>
                  <a:srgbClr val="0A8F91"/>
                </a:solidFill>
              </a:defRPr>
            </a:lvl6pPr>
            <a:lvl7pPr>
              <a:defRPr sz="2175" b="1">
                <a:solidFill>
                  <a:srgbClr val="0A8F91"/>
                </a:solidFill>
              </a:defRPr>
            </a:lvl7pPr>
            <a:lvl8pPr>
              <a:defRPr sz="2175" b="1">
                <a:solidFill>
                  <a:srgbClr val="0A8F91"/>
                </a:solidFill>
              </a:defRPr>
            </a:lvl8pPr>
            <a:lvl9pPr>
              <a:defRPr sz="2175" b="1">
                <a:solidFill>
                  <a:srgbClr val="0A8F91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A8F91"/>
                </a:solidFill>
              </a:defRPr>
            </a:pPr>
            <a:r>
              <a:rPr sz="2175" b="1">
                <a:solidFill>
                  <a:srgbClr val="0A8F91"/>
                </a:solidFill>
              </a:rPr>
              <a:t>Calculated balance</a:t>
            </a:r>
          </a:p>
        </p:txBody>
      </p:sp>
    </p:spTree>
    <p:extLst>
      <p:ext uri="{BB962C8B-B14F-4D97-AF65-F5344CB8AC3E}">
        <p14:creationId xmlns:p14="http://schemas.microsoft.com/office/powerpoint/2010/main" val="492551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D2982-68DA-4CEA-8ADB-799AF532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0E2637"/>
                </a:solidFill>
              </a:defRPr>
            </a:defPPr>
            <a:lvl1pPr>
              <a:defRPr sz="2700" b="1">
                <a:solidFill>
                  <a:srgbClr val="0E2637"/>
                </a:solidFill>
              </a:defRPr>
            </a:lvl1pPr>
            <a:lvl2pPr>
              <a:defRPr sz="2700" b="1">
                <a:solidFill>
                  <a:srgbClr val="0E2637"/>
                </a:solidFill>
              </a:defRPr>
            </a:lvl2pPr>
            <a:lvl3pPr>
              <a:defRPr sz="2700" b="1">
                <a:solidFill>
                  <a:srgbClr val="0E2637"/>
                </a:solidFill>
              </a:defRPr>
            </a:lvl3pPr>
            <a:lvl4pPr>
              <a:defRPr sz="2700" b="1">
                <a:solidFill>
                  <a:srgbClr val="0E2637"/>
                </a:solidFill>
              </a:defRPr>
            </a:lvl4pPr>
            <a:lvl5pPr>
              <a:defRPr sz="2700" b="1">
                <a:solidFill>
                  <a:srgbClr val="0E2637"/>
                </a:solidFill>
              </a:defRPr>
            </a:lvl5pPr>
            <a:lvl6pPr>
              <a:defRPr sz="2700" b="1">
                <a:solidFill>
                  <a:srgbClr val="0E2637"/>
                </a:solidFill>
              </a:defRPr>
            </a:lvl6pPr>
            <a:lvl7pPr>
              <a:defRPr sz="2700" b="1">
                <a:solidFill>
                  <a:srgbClr val="0E2637"/>
                </a:solidFill>
              </a:defRPr>
            </a:lvl7pPr>
            <a:lvl8pPr>
              <a:defRPr sz="2700" b="1">
                <a:solidFill>
                  <a:srgbClr val="0E2637"/>
                </a:solidFill>
              </a:defRPr>
            </a:lvl8pPr>
            <a:lvl9pPr>
              <a:defRPr sz="270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E2637"/>
                </a:solidFill>
              </a:defRPr>
            </a:pPr>
            <a:r>
              <a:rPr sz="2700" b="1">
                <a:solidFill>
                  <a:srgbClr val="0E2637"/>
                </a:solidFill>
              </a:rPr>
              <a:t>Features the team can demo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45E76-30E3-4480-9618-ACF2767D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46572"/>
                </a:solidFill>
              </a:defRPr>
            </a:defPPr>
            <a:lvl1pPr>
              <a:defRPr sz="975" b="1">
                <a:solidFill>
                  <a:srgbClr val="546572"/>
                </a:solidFill>
              </a:defRPr>
            </a:lvl1pPr>
            <a:lvl2pPr>
              <a:defRPr sz="975" b="1">
                <a:solidFill>
                  <a:srgbClr val="546572"/>
                </a:solidFill>
              </a:defRPr>
            </a:lvl2pPr>
            <a:lvl3pPr>
              <a:defRPr sz="975" b="1">
                <a:solidFill>
                  <a:srgbClr val="546572"/>
                </a:solidFill>
              </a:defRPr>
            </a:lvl3pPr>
            <a:lvl4pPr>
              <a:defRPr sz="975" b="1">
                <a:solidFill>
                  <a:srgbClr val="546572"/>
                </a:solidFill>
              </a:defRPr>
            </a:lvl4pPr>
            <a:lvl5pPr>
              <a:defRPr sz="975" b="1">
                <a:solidFill>
                  <a:srgbClr val="546572"/>
                </a:solidFill>
              </a:defRPr>
            </a:lvl5pPr>
            <a:lvl6pPr>
              <a:defRPr sz="975" b="1">
                <a:solidFill>
                  <a:srgbClr val="546572"/>
                </a:solidFill>
              </a:defRPr>
            </a:lvl6pPr>
            <a:lvl7pPr>
              <a:defRPr sz="975" b="1">
                <a:solidFill>
                  <a:srgbClr val="546572"/>
                </a:solidFill>
              </a:defRPr>
            </a:lvl7pPr>
            <a:lvl8pPr>
              <a:defRPr sz="975" b="1">
                <a:solidFill>
                  <a:srgbClr val="546572"/>
                </a:solidFill>
              </a:defRPr>
            </a:lvl8pPr>
            <a:lvl9pPr>
              <a:defRPr sz="975" b="1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46572"/>
                </a:solidFill>
              </a:defRPr>
            </a:pPr>
            <a:r>
              <a:rPr sz="975" b="1">
                <a:solidFill>
                  <a:srgbClr val="546572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A1239-544D-4939-8360-B1A1450D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144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0E2637"/>
                </a:solidFill>
              </a:defRPr>
            </a:defPPr>
            <a:lvl1pPr>
              <a:defRPr sz="1950" b="1">
                <a:solidFill>
                  <a:srgbClr val="0E2637"/>
                </a:solidFill>
              </a:defRPr>
            </a:lvl1pPr>
            <a:lvl2pPr>
              <a:defRPr sz="1950" b="1">
                <a:solidFill>
                  <a:srgbClr val="0E2637"/>
                </a:solidFill>
              </a:defRPr>
            </a:lvl2pPr>
            <a:lvl3pPr>
              <a:defRPr sz="1950" b="1">
                <a:solidFill>
                  <a:srgbClr val="0E2637"/>
                </a:solidFill>
              </a:defRPr>
            </a:lvl3pPr>
            <a:lvl4pPr>
              <a:defRPr sz="1950" b="1">
                <a:solidFill>
                  <a:srgbClr val="0E2637"/>
                </a:solidFill>
              </a:defRPr>
            </a:lvl4pPr>
            <a:lvl5pPr>
              <a:defRPr sz="1950" b="1">
                <a:solidFill>
                  <a:srgbClr val="0E2637"/>
                </a:solidFill>
              </a:defRPr>
            </a:lvl5pPr>
            <a:lvl6pPr>
              <a:defRPr sz="1950" b="1">
                <a:solidFill>
                  <a:srgbClr val="0E2637"/>
                </a:solidFill>
              </a:defRPr>
            </a:lvl6pPr>
            <a:lvl7pPr>
              <a:defRPr sz="1950" b="1">
                <a:solidFill>
                  <a:srgbClr val="0E2637"/>
                </a:solidFill>
              </a:defRPr>
            </a:lvl7pPr>
            <a:lvl8pPr>
              <a:defRPr sz="1950" b="1">
                <a:solidFill>
                  <a:srgbClr val="0E2637"/>
                </a:solidFill>
              </a:defRPr>
            </a:lvl8pPr>
            <a:lvl9pPr>
              <a:defRPr sz="195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E2637"/>
                </a:solidFill>
              </a:defRPr>
            </a:pPr>
            <a:r>
              <a:rPr sz="1950" b="1">
                <a:solidFill>
                  <a:srgbClr val="0E2637"/>
                </a:solidFill>
              </a:rPr>
              <a:t>Manual co-pilot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41AD8-C9B6-4692-8050-E9E34B6F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46572"/>
                </a:solidFill>
              </a:defRPr>
            </a:defPPr>
            <a:lvl1pPr>
              <a:defRPr sz="1350" b="0">
                <a:solidFill>
                  <a:srgbClr val="546572"/>
                </a:solidFill>
              </a:defRPr>
            </a:lvl1pPr>
            <a:lvl2pPr>
              <a:defRPr sz="1350" b="0">
                <a:solidFill>
                  <a:srgbClr val="546572"/>
                </a:solidFill>
              </a:defRPr>
            </a:lvl2pPr>
            <a:lvl3pPr>
              <a:defRPr sz="1350" b="0">
                <a:solidFill>
                  <a:srgbClr val="546572"/>
                </a:solidFill>
              </a:defRPr>
            </a:lvl3pPr>
            <a:lvl4pPr>
              <a:defRPr sz="1350" b="0">
                <a:solidFill>
                  <a:srgbClr val="546572"/>
                </a:solidFill>
              </a:defRPr>
            </a:lvl4pPr>
            <a:lvl5pPr>
              <a:defRPr sz="1350" b="0">
                <a:solidFill>
                  <a:srgbClr val="546572"/>
                </a:solidFill>
              </a:defRPr>
            </a:lvl5pPr>
            <a:lvl6pPr>
              <a:defRPr sz="1350" b="0">
                <a:solidFill>
                  <a:srgbClr val="546572"/>
                </a:solidFill>
              </a:defRPr>
            </a:lvl6pPr>
            <a:lvl7pPr>
              <a:defRPr sz="1350" b="0">
                <a:solidFill>
                  <a:srgbClr val="546572"/>
                </a:solidFill>
              </a:defRPr>
            </a:lvl7pPr>
            <a:lvl8pPr>
              <a:defRPr sz="1350" b="0">
                <a:solidFill>
                  <a:srgbClr val="546572"/>
                </a:solidFill>
              </a:defRPr>
            </a:lvl8pPr>
            <a:lvl9pPr>
              <a:defRPr sz="1350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</a:defRPr>
            </a:pPr>
            <a:r>
              <a:rPr sz="1350" b="0">
                <a:solidFill>
                  <a:srgbClr val="546572"/>
                </a:solidFill>
              </a:rPr>
              <a:t>Staff owns the message.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CFBC2-B119-4723-BD74-ED85B67A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14475"/>
            <a:ext cx="328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0E2637"/>
                </a:solidFill>
              </a:defRPr>
            </a:defPPr>
            <a:lvl1pPr>
              <a:defRPr sz="1950" b="1">
                <a:solidFill>
                  <a:srgbClr val="0E2637"/>
                </a:solidFill>
              </a:defRPr>
            </a:lvl1pPr>
            <a:lvl2pPr>
              <a:defRPr sz="1950" b="1">
                <a:solidFill>
                  <a:srgbClr val="0E2637"/>
                </a:solidFill>
              </a:defRPr>
            </a:lvl2pPr>
            <a:lvl3pPr>
              <a:defRPr sz="1950" b="1">
                <a:solidFill>
                  <a:srgbClr val="0E2637"/>
                </a:solidFill>
              </a:defRPr>
            </a:lvl3pPr>
            <a:lvl4pPr>
              <a:defRPr sz="1950" b="1">
                <a:solidFill>
                  <a:srgbClr val="0E2637"/>
                </a:solidFill>
              </a:defRPr>
            </a:lvl4pPr>
            <a:lvl5pPr>
              <a:defRPr sz="1950" b="1">
                <a:solidFill>
                  <a:srgbClr val="0E2637"/>
                </a:solidFill>
              </a:defRPr>
            </a:lvl5pPr>
            <a:lvl6pPr>
              <a:defRPr sz="1950" b="1">
                <a:solidFill>
                  <a:srgbClr val="0E2637"/>
                </a:solidFill>
              </a:defRPr>
            </a:lvl6pPr>
            <a:lvl7pPr>
              <a:defRPr sz="1950" b="1">
                <a:solidFill>
                  <a:srgbClr val="0E2637"/>
                </a:solidFill>
              </a:defRPr>
            </a:lvl7pPr>
            <a:lvl8pPr>
              <a:defRPr sz="1950" b="1">
                <a:solidFill>
                  <a:srgbClr val="0E2637"/>
                </a:solidFill>
              </a:defRPr>
            </a:lvl8pPr>
            <a:lvl9pPr>
              <a:defRPr sz="195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E2637"/>
                </a:solidFill>
              </a:defRPr>
            </a:pPr>
            <a:r>
              <a:rPr sz="1950" b="1">
                <a:solidFill>
                  <a:srgbClr val="0E2637"/>
                </a:solidFill>
              </a:rPr>
              <a:t>Delegated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A39A4-A5BF-401F-A954-044008A7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716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46572"/>
                </a:solidFill>
              </a:defRPr>
            </a:defPPr>
            <a:lvl1pPr>
              <a:defRPr sz="1350" b="0">
                <a:solidFill>
                  <a:srgbClr val="546572"/>
                </a:solidFill>
              </a:defRPr>
            </a:lvl1pPr>
            <a:lvl2pPr>
              <a:defRPr sz="1350" b="0">
                <a:solidFill>
                  <a:srgbClr val="546572"/>
                </a:solidFill>
              </a:defRPr>
            </a:lvl2pPr>
            <a:lvl3pPr>
              <a:defRPr sz="1350" b="0">
                <a:solidFill>
                  <a:srgbClr val="546572"/>
                </a:solidFill>
              </a:defRPr>
            </a:lvl3pPr>
            <a:lvl4pPr>
              <a:defRPr sz="1350" b="0">
                <a:solidFill>
                  <a:srgbClr val="546572"/>
                </a:solidFill>
              </a:defRPr>
            </a:lvl4pPr>
            <a:lvl5pPr>
              <a:defRPr sz="1350" b="0">
                <a:solidFill>
                  <a:srgbClr val="546572"/>
                </a:solidFill>
              </a:defRPr>
            </a:lvl5pPr>
            <a:lvl6pPr>
              <a:defRPr sz="1350" b="0">
                <a:solidFill>
                  <a:srgbClr val="546572"/>
                </a:solidFill>
              </a:defRPr>
            </a:lvl6pPr>
            <a:lvl7pPr>
              <a:defRPr sz="1350" b="0">
                <a:solidFill>
                  <a:srgbClr val="546572"/>
                </a:solidFill>
              </a:defRPr>
            </a:lvl7pPr>
            <a:lvl8pPr>
              <a:defRPr sz="1350" b="0">
                <a:solidFill>
                  <a:srgbClr val="546572"/>
                </a:solidFill>
              </a:defRPr>
            </a:lvl8pPr>
            <a:lvl9pPr>
              <a:defRPr sz="1350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</a:defRPr>
            </a:pPr>
            <a:r>
              <a:rPr sz="1350" b="0">
                <a:solidFill>
                  <a:srgbClr val="546572"/>
                </a:solidFill>
              </a:rPr>
              <a:t>Approval and takeover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0CCCB-8D49-4021-9278-A5445634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5144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0E2637"/>
                </a:solidFill>
              </a:defRPr>
            </a:defPPr>
            <a:lvl1pPr>
              <a:defRPr sz="1950" b="1">
                <a:solidFill>
                  <a:srgbClr val="0E2637"/>
                </a:solidFill>
              </a:defRPr>
            </a:lvl1pPr>
            <a:lvl2pPr>
              <a:defRPr sz="1950" b="1">
                <a:solidFill>
                  <a:srgbClr val="0E2637"/>
                </a:solidFill>
              </a:defRPr>
            </a:lvl2pPr>
            <a:lvl3pPr>
              <a:defRPr sz="1950" b="1">
                <a:solidFill>
                  <a:srgbClr val="0E2637"/>
                </a:solidFill>
              </a:defRPr>
            </a:lvl3pPr>
            <a:lvl4pPr>
              <a:defRPr sz="1950" b="1">
                <a:solidFill>
                  <a:srgbClr val="0E2637"/>
                </a:solidFill>
              </a:defRPr>
            </a:lvl4pPr>
            <a:lvl5pPr>
              <a:defRPr sz="1950" b="1">
                <a:solidFill>
                  <a:srgbClr val="0E2637"/>
                </a:solidFill>
              </a:defRPr>
            </a:lvl5pPr>
            <a:lvl6pPr>
              <a:defRPr sz="1950" b="1">
                <a:solidFill>
                  <a:srgbClr val="0E2637"/>
                </a:solidFill>
              </a:defRPr>
            </a:lvl6pPr>
            <a:lvl7pPr>
              <a:defRPr sz="1950" b="1">
                <a:solidFill>
                  <a:srgbClr val="0E2637"/>
                </a:solidFill>
              </a:defRPr>
            </a:lvl7pPr>
            <a:lvl8pPr>
              <a:defRPr sz="1950" b="1">
                <a:solidFill>
                  <a:srgbClr val="0E2637"/>
                </a:solidFill>
              </a:defRPr>
            </a:lvl8pPr>
            <a:lvl9pPr>
              <a:defRPr sz="195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E2637"/>
                </a:solidFill>
              </a:defRPr>
            </a:pPr>
            <a:r>
              <a:rPr sz="1950" b="1">
                <a:solidFill>
                  <a:srgbClr val="0E2637"/>
                </a:solidFill>
              </a:rPr>
              <a:t>Injection defense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5024C-9ED4-4842-B44C-A174AB7C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716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46572"/>
                </a:solidFill>
              </a:defRPr>
            </a:defPPr>
            <a:lvl1pPr>
              <a:defRPr sz="1350" b="0">
                <a:solidFill>
                  <a:srgbClr val="546572"/>
                </a:solidFill>
              </a:defRPr>
            </a:lvl1pPr>
            <a:lvl2pPr>
              <a:defRPr sz="1350" b="0">
                <a:solidFill>
                  <a:srgbClr val="546572"/>
                </a:solidFill>
              </a:defRPr>
            </a:lvl2pPr>
            <a:lvl3pPr>
              <a:defRPr sz="1350" b="0">
                <a:solidFill>
                  <a:srgbClr val="546572"/>
                </a:solidFill>
              </a:defRPr>
            </a:lvl3pPr>
            <a:lvl4pPr>
              <a:defRPr sz="1350" b="0">
                <a:solidFill>
                  <a:srgbClr val="546572"/>
                </a:solidFill>
              </a:defRPr>
            </a:lvl4pPr>
            <a:lvl5pPr>
              <a:defRPr sz="1350" b="0">
                <a:solidFill>
                  <a:srgbClr val="546572"/>
                </a:solidFill>
              </a:defRPr>
            </a:lvl5pPr>
            <a:lvl6pPr>
              <a:defRPr sz="1350" b="0">
                <a:solidFill>
                  <a:srgbClr val="546572"/>
                </a:solidFill>
              </a:defRPr>
            </a:lvl6pPr>
            <a:lvl7pPr>
              <a:defRPr sz="1350" b="0">
                <a:solidFill>
                  <a:srgbClr val="546572"/>
                </a:solidFill>
              </a:defRPr>
            </a:lvl7pPr>
            <a:lvl8pPr>
              <a:defRPr sz="1350" b="0">
                <a:solidFill>
                  <a:srgbClr val="546572"/>
                </a:solidFill>
              </a:defRPr>
            </a:lvl8pPr>
            <a:lvl9pPr>
              <a:defRPr sz="1350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</a:defRPr>
            </a:pPr>
            <a:r>
              <a:rPr sz="1350" b="0">
                <a:solidFill>
                  <a:srgbClr val="546572"/>
                </a:solidFill>
              </a:rPr>
              <a:t>Unsafe instructions escalate.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FDFCB-D570-4278-8020-72E8A6C90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7090581a043ea"/>
          <a:stretch xmlns:a="http://schemas.openxmlformats.org/drawingml/2006/main"/>
        </p:blipFill>
        <p:spPr>
          <a:xfrm xmlns:a="http://schemas.openxmlformats.org/drawingml/2006/main">
            <a:off x="1507285" y="2590800"/>
            <a:ext cx="9177430" cy="3419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85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952CC-39AF-4DAD-B328-AE01E005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</a:defRPr>
            </a:defPPr>
            <a:lvl1pPr>
              <a:defRPr sz="2700" b="1">
                <a:solidFill>
                  <a:srgbClr val="FFFFFF"/>
                </a:solidFill>
              </a:defRPr>
            </a:lvl1pPr>
            <a:lvl2pPr>
              <a:defRPr sz="2700" b="1">
                <a:solidFill>
                  <a:srgbClr val="FFFFFF"/>
                </a:solidFill>
              </a:defRPr>
            </a:lvl2pPr>
            <a:lvl3pPr>
              <a:defRPr sz="2700" b="1">
                <a:solidFill>
                  <a:srgbClr val="FFFFFF"/>
                </a:solidFill>
              </a:defRPr>
            </a:lvl3pPr>
            <a:lvl4pPr>
              <a:defRPr sz="2700" b="1">
                <a:solidFill>
                  <a:srgbClr val="FFFFFF"/>
                </a:solidFill>
              </a:defRPr>
            </a:lvl4pPr>
            <a:lvl5pPr>
              <a:defRPr sz="2700" b="1">
                <a:solidFill>
                  <a:srgbClr val="FFFFFF"/>
                </a:solidFill>
              </a:defRPr>
            </a:lvl5pPr>
            <a:lvl6pPr>
              <a:defRPr sz="2700" b="1">
                <a:solidFill>
                  <a:srgbClr val="FFFFFF"/>
                </a:solidFill>
              </a:defRPr>
            </a:lvl6pPr>
            <a:lvl7pPr>
              <a:defRPr sz="2700" b="1">
                <a:solidFill>
                  <a:srgbClr val="FFFFFF"/>
                </a:solidFill>
              </a:defRPr>
            </a:lvl7pPr>
            <a:lvl8pPr>
              <a:defRPr sz="2700" b="1">
                <a:solidFill>
                  <a:srgbClr val="FFFFFF"/>
                </a:solidFill>
              </a:defRPr>
            </a:lvl8pPr>
            <a:lvl9pPr>
              <a:defRPr sz="27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Governance and responsibility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49D1A-7768-494D-8831-F459A258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96ABBB"/>
                </a:solidFill>
              </a:defRPr>
            </a:defPPr>
            <a:lvl1pPr>
              <a:defRPr sz="975" b="1">
                <a:solidFill>
                  <a:srgbClr val="96ABBB"/>
                </a:solidFill>
              </a:defRPr>
            </a:lvl1pPr>
            <a:lvl2pPr>
              <a:defRPr sz="975" b="1">
                <a:solidFill>
                  <a:srgbClr val="96ABBB"/>
                </a:solidFill>
              </a:defRPr>
            </a:lvl2pPr>
            <a:lvl3pPr>
              <a:defRPr sz="975" b="1">
                <a:solidFill>
                  <a:srgbClr val="96ABBB"/>
                </a:solidFill>
              </a:defRPr>
            </a:lvl3pPr>
            <a:lvl4pPr>
              <a:defRPr sz="975" b="1">
                <a:solidFill>
                  <a:srgbClr val="96ABBB"/>
                </a:solidFill>
              </a:defRPr>
            </a:lvl4pPr>
            <a:lvl5pPr>
              <a:defRPr sz="975" b="1">
                <a:solidFill>
                  <a:srgbClr val="96ABBB"/>
                </a:solidFill>
              </a:defRPr>
            </a:lvl5pPr>
            <a:lvl6pPr>
              <a:defRPr sz="975" b="1">
                <a:solidFill>
                  <a:srgbClr val="96ABBB"/>
                </a:solidFill>
              </a:defRPr>
            </a:lvl6pPr>
            <a:lvl7pPr>
              <a:defRPr sz="975" b="1">
                <a:solidFill>
                  <a:srgbClr val="96ABBB"/>
                </a:solidFill>
              </a:defRPr>
            </a:lvl7pPr>
            <a:lvl8pPr>
              <a:defRPr sz="975" b="1">
                <a:solidFill>
                  <a:srgbClr val="96ABBB"/>
                </a:solidFill>
              </a:defRPr>
            </a:lvl8pPr>
            <a:lvl9pPr>
              <a:defRPr sz="975" b="1">
                <a:solidFill>
                  <a:srgbClr val="96ABB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96ABBB"/>
                </a:solidFill>
              </a:defRPr>
            </a:pPr>
            <a:r>
              <a:rPr sz="975" b="1">
                <a:solidFill>
                  <a:srgbClr val="96ABB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A1AE9-E78D-4B71-A6A2-C2DFB49C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219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7FE2D7"/>
                </a:solidFill>
              </a:defRPr>
            </a:defPPr>
            <a:lvl1pPr>
              <a:defRPr sz="2100" b="1">
                <a:solidFill>
                  <a:srgbClr val="7FE2D7"/>
                </a:solidFill>
              </a:defRPr>
            </a:lvl1pPr>
            <a:lvl2pPr>
              <a:defRPr sz="2100" b="1">
                <a:solidFill>
                  <a:srgbClr val="7FE2D7"/>
                </a:solidFill>
              </a:defRPr>
            </a:lvl2pPr>
            <a:lvl3pPr>
              <a:defRPr sz="2100" b="1">
                <a:solidFill>
                  <a:srgbClr val="7FE2D7"/>
                </a:solidFill>
              </a:defRPr>
            </a:lvl3pPr>
            <a:lvl4pPr>
              <a:defRPr sz="2100" b="1">
                <a:solidFill>
                  <a:srgbClr val="7FE2D7"/>
                </a:solidFill>
              </a:defRPr>
            </a:lvl4pPr>
            <a:lvl5pPr>
              <a:defRPr sz="2100" b="1">
                <a:solidFill>
                  <a:srgbClr val="7FE2D7"/>
                </a:solidFill>
              </a:defRPr>
            </a:lvl5pPr>
            <a:lvl6pPr>
              <a:defRPr sz="2100" b="1">
                <a:solidFill>
                  <a:srgbClr val="7FE2D7"/>
                </a:solidFill>
              </a:defRPr>
            </a:lvl6pPr>
            <a:lvl7pPr>
              <a:defRPr sz="2100" b="1">
                <a:solidFill>
                  <a:srgbClr val="7FE2D7"/>
                </a:solidFill>
              </a:defRPr>
            </a:lvl7pPr>
            <a:lvl8pPr>
              <a:defRPr sz="2100" b="1">
                <a:solidFill>
                  <a:srgbClr val="7FE2D7"/>
                </a:solidFill>
              </a:defRPr>
            </a:lvl8pPr>
            <a:lvl9pPr>
              <a:defRPr sz="2100" b="1">
                <a:solidFill>
                  <a:srgbClr val="7FE2D7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FE2D7"/>
                </a:solidFill>
              </a:defRPr>
            </a:pPr>
            <a:r>
              <a:rPr sz="2100" b="1">
                <a:solidFill>
                  <a:srgbClr val="7FE2D7"/>
                </a:solidFill>
              </a:rPr>
              <a:t>Money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AFBF0-870C-492F-9EEE-0613E26F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097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Server-side Decimal and integer-cent rules calculate balances; the model cannot alter the ledger.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B91F6-88A0-42F5-B92A-D2410BD6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19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7FE2D7"/>
                </a:solidFill>
              </a:defRPr>
            </a:defPPr>
            <a:lvl1pPr>
              <a:defRPr sz="2100" b="1">
                <a:solidFill>
                  <a:srgbClr val="7FE2D7"/>
                </a:solidFill>
              </a:defRPr>
            </a:lvl1pPr>
            <a:lvl2pPr>
              <a:defRPr sz="2100" b="1">
                <a:solidFill>
                  <a:srgbClr val="7FE2D7"/>
                </a:solidFill>
              </a:defRPr>
            </a:lvl2pPr>
            <a:lvl3pPr>
              <a:defRPr sz="2100" b="1">
                <a:solidFill>
                  <a:srgbClr val="7FE2D7"/>
                </a:solidFill>
              </a:defRPr>
            </a:lvl3pPr>
            <a:lvl4pPr>
              <a:defRPr sz="2100" b="1">
                <a:solidFill>
                  <a:srgbClr val="7FE2D7"/>
                </a:solidFill>
              </a:defRPr>
            </a:lvl4pPr>
            <a:lvl5pPr>
              <a:defRPr sz="2100" b="1">
                <a:solidFill>
                  <a:srgbClr val="7FE2D7"/>
                </a:solidFill>
              </a:defRPr>
            </a:lvl5pPr>
            <a:lvl6pPr>
              <a:defRPr sz="2100" b="1">
                <a:solidFill>
                  <a:srgbClr val="7FE2D7"/>
                </a:solidFill>
              </a:defRPr>
            </a:lvl6pPr>
            <a:lvl7pPr>
              <a:defRPr sz="2100" b="1">
                <a:solidFill>
                  <a:srgbClr val="7FE2D7"/>
                </a:solidFill>
              </a:defRPr>
            </a:lvl7pPr>
            <a:lvl8pPr>
              <a:defRPr sz="2100" b="1">
                <a:solidFill>
                  <a:srgbClr val="7FE2D7"/>
                </a:solidFill>
              </a:defRPr>
            </a:lvl8pPr>
            <a:lvl9pPr>
              <a:defRPr sz="2100" b="1">
                <a:solidFill>
                  <a:srgbClr val="7FE2D7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FE2D7"/>
                </a:solidFill>
              </a:defRPr>
            </a:pPr>
            <a:r>
              <a:rPr sz="2100" b="1">
                <a:solidFill>
                  <a:srgbClr val="7FE2D7"/>
                </a:solidFill>
              </a:rPr>
              <a:t>Messages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568C2-DC48-4B6F-AB1D-583C8FC2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622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Staff approves the exact draft version. WhatsApp and email remain sandbox outboxes.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25143-8202-4A7A-AD52-59FE9FFA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219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7FE2D7"/>
                </a:solidFill>
              </a:defRPr>
            </a:defPPr>
            <a:lvl1pPr>
              <a:defRPr sz="2100" b="1">
                <a:solidFill>
                  <a:srgbClr val="7FE2D7"/>
                </a:solidFill>
              </a:defRPr>
            </a:lvl1pPr>
            <a:lvl2pPr>
              <a:defRPr sz="2100" b="1">
                <a:solidFill>
                  <a:srgbClr val="7FE2D7"/>
                </a:solidFill>
              </a:defRPr>
            </a:lvl2pPr>
            <a:lvl3pPr>
              <a:defRPr sz="2100" b="1">
                <a:solidFill>
                  <a:srgbClr val="7FE2D7"/>
                </a:solidFill>
              </a:defRPr>
            </a:lvl3pPr>
            <a:lvl4pPr>
              <a:defRPr sz="2100" b="1">
                <a:solidFill>
                  <a:srgbClr val="7FE2D7"/>
                </a:solidFill>
              </a:defRPr>
            </a:lvl4pPr>
            <a:lvl5pPr>
              <a:defRPr sz="2100" b="1">
                <a:solidFill>
                  <a:srgbClr val="7FE2D7"/>
                </a:solidFill>
              </a:defRPr>
            </a:lvl5pPr>
            <a:lvl6pPr>
              <a:defRPr sz="2100" b="1">
                <a:solidFill>
                  <a:srgbClr val="7FE2D7"/>
                </a:solidFill>
              </a:defRPr>
            </a:lvl6pPr>
            <a:lvl7pPr>
              <a:defRPr sz="2100" b="1">
                <a:solidFill>
                  <a:srgbClr val="7FE2D7"/>
                </a:solidFill>
              </a:defRPr>
            </a:lvl7pPr>
            <a:lvl8pPr>
              <a:defRPr sz="2100" b="1">
                <a:solidFill>
                  <a:srgbClr val="7FE2D7"/>
                </a:solidFill>
              </a:defRPr>
            </a:lvl8pPr>
            <a:lvl9pPr>
              <a:defRPr sz="2100" b="1">
                <a:solidFill>
                  <a:srgbClr val="7FE2D7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FE2D7"/>
                </a:solidFill>
              </a:defRPr>
            </a:pPr>
            <a:r>
              <a:rPr sz="2100" b="1">
                <a:solidFill>
                  <a:srgbClr val="7FE2D7"/>
                </a:solidFill>
              </a:rPr>
              <a:t>Autonomy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94E9F-EAD6-4800-93B8-6D34ED12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Internal notes and unsent drafts only. Pause, take over and stop are available per case.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14327-6105-4221-9C39-C87DDAE0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219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7FE2D7"/>
                </a:solidFill>
              </a:defRPr>
            </a:defPPr>
            <a:lvl1pPr>
              <a:defRPr sz="2100" b="1">
                <a:solidFill>
                  <a:srgbClr val="7FE2D7"/>
                </a:solidFill>
              </a:defRPr>
            </a:lvl1pPr>
            <a:lvl2pPr>
              <a:defRPr sz="2100" b="1">
                <a:solidFill>
                  <a:srgbClr val="7FE2D7"/>
                </a:solidFill>
              </a:defRPr>
            </a:lvl2pPr>
            <a:lvl3pPr>
              <a:defRPr sz="2100" b="1">
                <a:solidFill>
                  <a:srgbClr val="7FE2D7"/>
                </a:solidFill>
              </a:defRPr>
            </a:lvl3pPr>
            <a:lvl4pPr>
              <a:defRPr sz="2100" b="1">
                <a:solidFill>
                  <a:srgbClr val="7FE2D7"/>
                </a:solidFill>
              </a:defRPr>
            </a:lvl4pPr>
            <a:lvl5pPr>
              <a:defRPr sz="2100" b="1">
                <a:solidFill>
                  <a:srgbClr val="7FE2D7"/>
                </a:solidFill>
              </a:defRPr>
            </a:lvl5pPr>
            <a:lvl6pPr>
              <a:defRPr sz="2100" b="1">
                <a:solidFill>
                  <a:srgbClr val="7FE2D7"/>
                </a:solidFill>
              </a:defRPr>
            </a:lvl6pPr>
            <a:lvl7pPr>
              <a:defRPr sz="2100" b="1">
                <a:solidFill>
                  <a:srgbClr val="7FE2D7"/>
                </a:solidFill>
              </a:defRPr>
            </a:lvl7pPr>
            <a:lvl8pPr>
              <a:defRPr sz="2100" b="1">
                <a:solidFill>
                  <a:srgbClr val="7FE2D7"/>
                </a:solidFill>
              </a:defRPr>
            </a:lvl8pPr>
            <a:lvl9pPr>
              <a:defRPr sz="2100" b="1">
                <a:solidFill>
                  <a:srgbClr val="7FE2D7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FE2D7"/>
                </a:solidFill>
              </a:defRPr>
            </a:pPr>
            <a:r>
              <a:rPr sz="2100" b="1">
                <a:solidFill>
                  <a:srgbClr val="7FE2D7"/>
                </a:solidFill>
              </a:rPr>
              <a:t>Closure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4D77B-D058-4D9E-A71F-4B6D414D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672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 promise never closes a case. A matched SIMULATED payment creates PARTIALLY_RESOLVED.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84E76-5DB3-466E-8688-7B7E2C36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19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7FE2D7"/>
                </a:solidFill>
              </a:defRPr>
            </a:defPPr>
            <a:lvl1pPr>
              <a:defRPr sz="2100" b="1">
                <a:solidFill>
                  <a:srgbClr val="7FE2D7"/>
                </a:solidFill>
              </a:defRPr>
            </a:lvl1pPr>
            <a:lvl2pPr>
              <a:defRPr sz="2100" b="1">
                <a:solidFill>
                  <a:srgbClr val="7FE2D7"/>
                </a:solidFill>
              </a:defRPr>
            </a:lvl2pPr>
            <a:lvl3pPr>
              <a:defRPr sz="2100" b="1">
                <a:solidFill>
                  <a:srgbClr val="7FE2D7"/>
                </a:solidFill>
              </a:defRPr>
            </a:lvl3pPr>
            <a:lvl4pPr>
              <a:defRPr sz="2100" b="1">
                <a:solidFill>
                  <a:srgbClr val="7FE2D7"/>
                </a:solidFill>
              </a:defRPr>
            </a:lvl4pPr>
            <a:lvl5pPr>
              <a:defRPr sz="2100" b="1">
                <a:solidFill>
                  <a:srgbClr val="7FE2D7"/>
                </a:solidFill>
              </a:defRPr>
            </a:lvl5pPr>
            <a:lvl6pPr>
              <a:defRPr sz="2100" b="1">
                <a:solidFill>
                  <a:srgbClr val="7FE2D7"/>
                </a:solidFill>
              </a:defRPr>
            </a:lvl6pPr>
            <a:lvl7pPr>
              <a:defRPr sz="2100" b="1">
                <a:solidFill>
                  <a:srgbClr val="7FE2D7"/>
                </a:solidFill>
              </a:defRPr>
            </a:lvl7pPr>
            <a:lvl8pPr>
              <a:defRPr sz="2100" b="1">
                <a:solidFill>
                  <a:srgbClr val="7FE2D7"/>
                </a:solidFill>
              </a:defRPr>
            </a:lvl8pPr>
            <a:lvl9pPr>
              <a:defRPr sz="2100" b="1">
                <a:solidFill>
                  <a:srgbClr val="7FE2D7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FE2D7"/>
                </a:solidFill>
              </a:defRPr>
            </a:pPr>
            <a:r>
              <a:rPr sz="2100" b="1">
                <a:solidFill>
                  <a:srgbClr val="7FE2D7"/>
                </a:solidFill>
              </a:rPr>
              <a:t>Trust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529E5-00C9-44B6-9B4A-6A8CFE1E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Untrusted uploads and customer text cannot override policy. Every action is auditable.</a:t>
            </a:r>
          </a:p>
        </p:txBody>
      </p:sp>
    </p:spTree>
    <p:extLst>
      <p:ext uri="{BB962C8B-B14F-4D97-AF65-F5344CB8AC3E}">
        <p14:creationId xmlns:p14="http://schemas.microsoft.com/office/powerpoint/2010/main" val="17477269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C8902-8245-4C06-8A38-B90B297A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0E2637"/>
                </a:solidFill>
              </a:defRPr>
            </a:defPPr>
            <a:lvl1pPr>
              <a:defRPr sz="2700" b="1">
                <a:solidFill>
                  <a:srgbClr val="0E2637"/>
                </a:solidFill>
              </a:defRPr>
            </a:lvl1pPr>
            <a:lvl2pPr>
              <a:defRPr sz="2700" b="1">
                <a:solidFill>
                  <a:srgbClr val="0E2637"/>
                </a:solidFill>
              </a:defRPr>
            </a:lvl2pPr>
            <a:lvl3pPr>
              <a:defRPr sz="2700" b="1">
                <a:solidFill>
                  <a:srgbClr val="0E2637"/>
                </a:solidFill>
              </a:defRPr>
            </a:lvl3pPr>
            <a:lvl4pPr>
              <a:defRPr sz="2700" b="1">
                <a:solidFill>
                  <a:srgbClr val="0E2637"/>
                </a:solidFill>
              </a:defRPr>
            </a:lvl4pPr>
            <a:lvl5pPr>
              <a:defRPr sz="2700" b="1">
                <a:solidFill>
                  <a:srgbClr val="0E2637"/>
                </a:solidFill>
              </a:defRPr>
            </a:lvl5pPr>
            <a:lvl6pPr>
              <a:defRPr sz="2700" b="1">
                <a:solidFill>
                  <a:srgbClr val="0E2637"/>
                </a:solidFill>
              </a:defRPr>
            </a:lvl6pPr>
            <a:lvl7pPr>
              <a:defRPr sz="2700" b="1">
                <a:solidFill>
                  <a:srgbClr val="0E2637"/>
                </a:solidFill>
              </a:defRPr>
            </a:lvl7pPr>
            <a:lvl8pPr>
              <a:defRPr sz="2700" b="1">
                <a:solidFill>
                  <a:srgbClr val="0E2637"/>
                </a:solidFill>
              </a:defRPr>
            </a:lvl8pPr>
            <a:lvl9pPr>
              <a:defRPr sz="270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E2637"/>
                </a:solidFill>
              </a:defRPr>
            </a:pPr>
            <a:r>
              <a:rPr sz="2700" b="1">
                <a:solidFill>
                  <a:srgbClr val="0E2637"/>
                </a:solidFill>
              </a:rPr>
              <a:t>Reusability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2E903-D8F1-45FB-A012-D6BB6FF8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46572"/>
                </a:solidFill>
              </a:defRPr>
            </a:defPPr>
            <a:lvl1pPr>
              <a:defRPr sz="975" b="1">
                <a:solidFill>
                  <a:srgbClr val="546572"/>
                </a:solidFill>
              </a:defRPr>
            </a:lvl1pPr>
            <a:lvl2pPr>
              <a:defRPr sz="975" b="1">
                <a:solidFill>
                  <a:srgbClr val="546572"/>
                </a:solidFill>
              </a:defRPr>
            </a:lvl2pPr>
            <a:lvl3pPr>
              <a:defRPr sz="975" b="1">
                <a:solidFill>
                  <a:srgbClr val="546572"/>
                </a:solidFill>
              </a:defRPr>
            </a:lvl3pPr>
            <a:lvl4pPr>
              <a:defRPr sz="975" b="1">
                <a:solidFill>
                  <a:srgbClr val="546572"/>
                </a:solidFill>
              </a:defRPr>
            </a:lvl4pPr>
            <a:lvl5pPr>
              <a:defRPr sz="975" b="1">
                <a:solidFill>
                  <a:srgbClr val="546572"/>
                </a:solidFill>
              </a:defRPr>
            </a:lvl5pPr>
            <a:lvl6pPr>
              <a:defRPr sz="975" b="1">
                <a:solidFill>
                  <a:srgbClr val="546572"/>
                </a:solidFill>
              </a:defRPr>
            </a:lvl6pPr>
            <a:lvl7pPr>
              <a:defRPr sz="975" b="1">
                <a:solidFill>
                  <a:srgbClr val="546572"/>
                </a:solidFill>
              </a:defRPr>
            </a:lvl7pPr>
            <a:lvl8pPr>
              <a:defRPr sz="975" b="1">
                <a:solidFill>
                  <a:srgbClr val="546572"/>
                </a:solidFill>
              </a:defRPr>
            </a:lvl8pPr>
            <a:lvl9pPr>
              <a:defRPr sz="975" b="1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46572"/>
                </a:solidFill>
              </a:defRPr>
            </a:pPr>
            <a:r>
              <a:rPr sz="975" b="1">
                <a:solidFill>
                  <a:srgbClr val="546572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CF2BA-CC93-4980-B1BB-D52E8352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0E2637"/>
                </a:solidFill>
              </a:defRPr>
            </a:defPPr>
            <a:lvl1pPr>
              <a:defRPr sz="2325" b="1">
                <a:solidFill>
                  <a:srgbClr val="0E2637"/>
                </a:solidFill>
              </a:defRPr>
            </a:lvl1pPr>
            <a:lvl2pPr>
              <a:defRPr sz="2325" b="1">
                <a:solidFill>
                  <a:srgbClr val="0E2637"/>
                </a:solidFill>
              </a:defRPr>
            </a:lvl2pPr>
            <a:lvl3pPr>
              <a:defRPr sz="2325" b="1">
                <a:solidFill>
                  <a:srgbClr val="0E2637"/>
                </a:solidFill>
              </a:defRPr>
            </a:lvl3pPr>
            <a:lvl4pPr>
              <a:defRPr sz="2325" b="1">
                <a:solidFill>
                  <a:srgbClr val="0E2637"/>
                </a:solidFill>
              </a:defRPr>
            </a:lvl4pPr>
            <a:lvl5pPr>
              <a:defRPr sz="2325" b="1">
                <a:solidFill>
                  <a:srgbClr val="0E2637"/>
                </a:solidFill>
              </a:defRPr>
            </a:lvl5pPr>
            <a:lvl6pPr>
              <a:defRPr sz="2325" b="1">
                <a:solidFill>
                  <a:srgbClr val="0E2637"/>
                </a:solidFill>
              </a:defRPr>
            </a:lvl6pPr>
            <a:lvl7pPr>
              <a:defRPr sz="2325" b="1">
                <a:solidFill>
                  <a:srgbClr val="0E2637"/>
                </a:solidFill>
              </a:defRPr>
            </a:lvl7pPr>
            <a:lvl8pPr>
              <a:defRPr sz="2325" b="1">
                <a:solidFill>
                  <a:srgbClr val="0E2637"/>
                </a:solidFill>
              </a:defRPr>
            </a:lvl8pPr>
            <a:lvl9pPr>
              <a:defRPr sz="232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E2637"/>
                </a:solidFill>
              </a:defRPr>
            </a:pPr>
            <a:r>
              <a:rPr sz="2325" b="1">
                <a:solidFill>
                  <a:srgbClr val="0E2637"/>
                </a:solidFill>
              </a:rPr>
              <a:t>Reusable 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9F067-79FC-45CA-9C54-8966F978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48863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546572"/>
                </a:solidFill>
              </a:defRPr>
            </a:defPPr>
            <a:lvl1pPr>
              <a:defRPr sz="1800" b="0">
                <a:solidFill>
                  <a:srgbClr val="546572"/>
                </a:solidFill>
              </a:defRPr>
            </a:lvl1pPr>
            <a:lvl2pPr>
              <a:defRPr sz="1800" b="0">
                <a:solidFill>
                  <a:srgbClr val="546572"/>
                </a:solidFill>
              </a:defRPr>
            </a:lvl2pPr>
            <a:lvl3pPr>
              <a:defRPr sz="1800" b="0">
                <a:solidFill>
                  <a:srgbClr val="546572"/>
                </a:solidFill>
              </a:defRPr>
            </a:lvl3pPr>
            <a:lvl4pPr>
              <a:defRPr sz="1800" b="0">
                <a:solidFill>
                  <a:srgbClr val="546572"/>
                </a:solidFill>
              </a:defRPr>
            </a:lvl4pPr>
            <a:lvl5pPr>
              <a:defRPr sz="1800" b="0">
                <a:solidFill>
                  <a:srgbClr val="546572"/>
                </a:solidFill>
              </a:defRPr>
            </a:lvl5pPr>
            <a:lvl6pPr>
              <a:defRPr sz="1800" b="0">
                <a:solidFill>
                  <a:srgbClr val="546572"/>
                </a:solidFill>
              </a:defRPr>
            </a:lvl6pPr>
            <a:lvl7pPr>
              <a:defRPr sz="1800" b="0">
                <a:solidFill>
                  <a:srgbClr val="546572"/>
                </a:solidFill>
              </a:defRPr>
            </a:lvl7pPr>
            <a:lvl8pPr>
              <a:defRPr sz="1800" b="0">
                <a:solidFill>
                  <a:srgbClr val="546572"/>
                </a:solidFill>
              </a:defRPr>
            </a:lvl8pPr>
            <a:lvl9pPr>
              <a:defRPr sz="1800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572"/>
                </a:solidFill>
              </a:defRPr>
            </a:pPr>
            <a:r>
              <a:rPr sz="1800" b="0">
                <a:solidFill>
                  <a:srgbClr val="546572"/>
                </a:solidFill>
              </a:rPr>
              <a:t>A source-linked case model, deterministic balance engine, versioned approval and audit trail can serve new industries and channels.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A4002-99FD-413E-A014-DBA3C1EE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048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0E2637"/>
                </a:solidFill>
              </a:defRPr>
            </a:defPPr>
            <a:lvl1pPr>
              <a:defRPr sz="2325" b="1">
                <a:solidFill>
                  <a:srgbClr val="0E2637"/>
                </a:solidFill>
              </a:defRPr>
            </a:lvl1pPr>
            <a:lvl2pPr>
              <a:defRPr sz="2325" b="1">
                <a:solidFill>
                  <a:srgbClr val="0E2637"/>
                </a:solidFill>
              </a:defRPr>
            </a:lvl2pPr>
            <a:lvl3pPr>
              <a:defRPr sz="2325" b="1">
                <a:solidFill>
                  <a:srgbClr val="0E2637"/>
                </a:solidFill>
              </a:defRPr>
            </a:lvl3pPr>
            <a:lvl4pPr>
              <a:defRPr sz="2325" b="1">
                <a:solidFill>
                  <a:srgbClr val="0E2637"/>
                </a:solidFill>
              </a:defRPr>
            </a:lvl4pPr>
            <a:lvl5pPr>
              <a:defRPr sz="2325" b="1">
                <a:solidFill>
                  <a:srgbClr val="0E2637"/>
                </a:solidFill>
              </a:defRPr>
            </a:lvl5pPr>
            <a:lvl6pPr>
              <a:defRPr sz="2325" b="1">
                <a:solidFill>
                  <a:srgbClr val="0E2637"/>
                </a:solidFill>
              </a:defRPr>
            </a:lvl6pPr>
            <a:lvl7pPr>
              <a:defRPr sz="2325" b="1">
                <a:solidFill>
                  <a:srgbClr val="0E2637"/>
                </a:solidFill>
              </a:defRPr>
            </a:lvl7pPr>
            <a:lvl8pPr>
              <a:defRPr sz="2325" b="1">
                <a:solidFill>
                  <a:srgbClr val="0E2637"/>
                </a:solidFill>
              </a:defRPr>
            </a:lvl8pPr>
            <a:lvl9pPr>
              <a:defRPr sz="232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E2637"/>
                </a:solidFill>
              </a:defRPr>
            </a:pPr>
            <a:r>
              <a:rPr sz="2325" b="1">
                <a:solidFill>
                  <a:srgbClr val="0E2637"/>
                </a:solidFill>
              </a:rPr>
              <a:t>Replaceable edges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66BF7-8EAC-4C2F-AF0E-B3E00A43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76475"/>
            <a:ext cx="50006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546572"/>
                </a:solidFill>
              </a:defRPr>
            </a:defPPr>
            <a:lvl1pPr>
              <a:defRPr sz="1800" b="0">
                <a:solidFill>
                  <a:srgbClr val="546572"/>
                </a:solidFill>
              </a:defRPr>
            </a:lvl1pPr>
            <a:lvl2pPr>
              <a:defRPr sz="1800" b="0">
                <a:solidFill>
                  <a:srgbClr val="546572"/>
                </a:solidFill>
              </a:defRPr>
            </a:lvl2pPr>
            <a:lvl3pPr>
              <a:defRPr sz="1800" b="0">
                <a:solidFill>
                  <a:srgbClr val="546572"/>
                </a:solidFill>
              </a:defRPr>
            </a:lvl3pPr>
            <a:lvl4pPr>
              <a:defRPr sz="1800" b="0">
                <a:solidFill>
                  <a:srgbClr val="546572"/>
                </a:solidFill>
              </a:defRPr>
            </a:lvl4pPr>
            <a:lvl5pPr>
              <a:defRPr sz="1800" b="0">
                <a:solidFill>
                  <a:srgbClr val="546572"/>
                </a:solidFill>
              </a:defRPr>
            </a:lvl5pPr>
            <a:lvl6pPr>
              <a:defRPr sz="1800" b="0">
                <a:solidFill>
                  <a:srgbClr val="546572"/>
                </a:solidFill>
              </a:defRPr>
            </a:lvl6pPr>
            <a:lvl7pPr>
              <a:defRPr sz="1800" b="0">
                <a:solidFill>
                  <a:srgbClr val="546572"/>
                </a:solidFill>
              </a:defRPr>
            </a:lvl7pPr>
            <a:lvl8pPr>
              <a:defRPr sz="1800" b="0">
                <a:solidFill>
                  <a:srgbClr val="546572"/>
                </a:solidFill>
              </a:defRPr>
            </a:lvl8pPr>
            <a:lvl9pPr>
              <a:defRPr sz="1800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572"/>
                </a:solidFill>
              </a:defRPr>
            </a:pPr>
            <a:r>
              <a:rPr sz="1800" b="0">
                <a:solidFill>
                  <a:srgbClr val="546572"/>
                </a:solidFill>
              </a:rPr>
              <a:t>CSV/PDF/image intake, read-only Shopify, Gemini wording, sandbox messaging and SIMULATED Razorpay sit behind separate services.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FE58C-0D5D-456D-A382-C0D174A7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1076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B76B23"/>
                </a:solidFill>
              </a:defRPr>
            </a:defPPr>
            <a:lvl1pPr>
              <a:defRPr sz="1650" b="0">
                <a:solidFill>
                  <a:srgbClr val="B76B23"/>
                </a:solidFill>
              </a:defRPr>
            </a:lvl1pPr>
            <a:lvl2pPr>
              <a:defRPr sz="1650" b="0">
                <a:solidFill>
                  <a:srgbClr val="B76B23"/>
                </a:solidFill>
              </a:defRPr>
            </a:lvl2pPr>
            <a:lvl3pPr>
              <a:defRPr sz="1650" b="0">
                <a:solidFill>
                  <a:srgbClr val="B76B23"/>
                </a:solidFill>
              </a:defRPr>
            </a:lvl3pPr>
            <a:lvl4pPr>
              <a:defRPr sz="1650" b="0">
                <a:solidFill>
                  <a:srgbClr val="B76B23"/>
                </a:solidFill>
              </a:defRPr>
            </a:lvl4pPr>
            <a:lvl5pPr>
              <a:defRPr sz="1650" b="0">
                <a:solidFill>
                  <a:srgbClr val="B76B23"/>
                </a:solidFill>
              </a:defRPr>
            </a:lvl5pPr>
            <a:lvl6pPr>
              <a:defRPr sz="1650" b="0">
                <a:solidFill>
                  <a:srgbClr val="B76B23"/>
                </a:solidFill>
              </a:defRPr>
            </a:lvl6pPr>
            <a:lvl7pPr>
              <a:defRPr sz="1650" b="0">
                <a:solidFill>
                  <a:srgbClr val="B76B23"/>
                </a:solidFill>
              </a:defRPr>
            </a:lvl7pPr>
            <a:lvl8pPr>
              <a:defRPr sz="1650" b="0">
                <a:solidFill>
                  <a:srgbClr val="B76B23"/>
                </a:solidFill>
              </a:defRPr>
            </a:lvl8pPr>
            <a:lvl9pPr>
              <a:defRPr sz="1650" b="0">
                <a:solidFill>
                  <a:srgbClr val="B76B2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76B23"/>
                </a:solidFill>
              </a:defRPr>
            </a:pPr>
            <a:r>
              <a:rPr sz="1650" b="0">
                <a:solidFill>
                  <a:srgbClr val="B76B23"/>
                </a:solidFill>
              </a:rPr>
              <a:t>Pilot setup: SQLite and local identity. Production requires managed tenancy, migrations, backups and provider tests.</a:t>
            </a:r>
          </a:p>
        </p:txBody>
      </p:sp>
    </p:spTree>
    <p:extLst>
      <p:ext uri="{BB962C8B-B14F-4D97-AF65-F5344CB8AC3E}">
        <p14:creationId xmlns:p14="http://schemas.microsoft.com/office/powerpoint/2010/main" val="1788269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5A4BB-4F58-4BA2-B25E-77B664A9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0E2637"/>
                </a:solidFill>
              </a:defRPr>
            </a:defPPr>
            <a:lvl1pPr>
              <a:defRPr sz="2700" b="1">
                <a:solidFill>
                  <a:srgbClr val="0E2637"/>
                </a:solidFill>
              </a:defRPr>
            </a:lvl1pPr>
            <a:lvl2pPr>
              <a:defRPr sz="2700" b="1">
                <a:solidFill>
                  <a:srgbClr val="0E2637"/>
                </a:solidFill>
              </a:defRPr>
            </a:lvl2pPr>
            <a:lvl3pPr>
              <a:defRPr sz="2700" b="1">
                <a:solidFill>
                  <a:srgbClr val="0E2637"/>
                </a:solidFill>
              </a:defRPr>
            </a:lvl3pPr>
            <a:lvl4pPr>
              <a:defRPr sz="2700" b="1">
                <a:solidFill>
                  <a:srgbClr val="0E2637"/>
                </a:solidFill>
              </a:defRPr>
            </a:lvl4pPr>
            <a:lvl5pPr>
              <a:defRPr sz="2700" b="1">
                <a:solidFill>
                  <a:srgbClr val="0E2637"/>
                </a:solidFill>
              </a:defRPr>
            </a:lvl5pPr>
            <a:lvl6pPr>
              <a:defRPr sz="2700" b="1">
                <a:solidFill>
                  <a:srgbClr val="0E2637"/>
                </a:solidFill>
              </a:defRPr>
            </a:lvl6pPr>
            <a:lvl7pPr>
              <a:defRPr sz="2700" b="1">
                <a:solidFill>
                  <a:srgbClr val="0E2637"/>
                </a:solidFill>
              </a:defRPr>
            </a:lvl7pPr>
            <a:lvl8pPr>
              <a:defRPr sz="2700" b="1">
                <a:solidFill>
                  <a:srgbClr val="0E2637"/>
                </a:solidFill>
              </a:defRPr>
            </a:lvl8pPr>
            <a:lvl9pPr>
              <a:defRPr sz="270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E2637"/>
                </a:solidFill>
              </a:defRPr>
            </a:pPr>
            <a:r>
              <a:rPr sz="2700" b="1">
                <a:solidFill>
                  <a:srgbClr val="0E2637"/>
                </a:solidFill>
              </a:rPr>
              <a:t>ROI and business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8A6BC-C0C3-4D57-B021-5B94C266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46572"/>
                </a:solidFill>
              </a:defRPr>
            </a:defPPr>
            <a:lvl1pPr>
              <a:defRPr sz="975" b="1">
                <a:solidFill>
                  <a:srgbClr val="546572"/>
                </a:solidFill>
              </a:defRPr>
            </a:lvl1pPr>
            <a:lvl2pPr>
              <a:defRPr sz="975" b="1">
                <a:solidFill>
                  <a:srgbClr val="546572"/>
                </a:solidFill>
              </a:defRPr>
            </a:lvl2pPr>
            <a:lvl3pPr>
              <a:defRPr sz="975" b="1">
                <a:solidFill>
                  <a:srgbClr val="546572"/>
                </a:solidFill>
              </a:defRPr>
            </a:lvl3pPr>
            <a:lvl4pPr>
              <a:defRPr sz="975" b="1">
                <a:solidFill>
                  <a:srgbClr val="546572"/>
                </a:solidFill>
              </a:defRPr>
            </a:lvl4pPr>
            <a:lvl5pPr>
              <a:defRPr sz="975" b="1">
                <a:solidFill>
                  <a:srgbClr val="546572"/>
                </a:solidFill>
              </a:defRPr>
            </a:lvl5pPr>
            <a:lvl6pPr>
              <a:defRPr sz="975" b="1">
                <a:solidFill>
                  <a:srgbClr val="546572"/>
                </a:solidFill>
              </a:defRPr>
            </a:lvl6pPr>
            <a:lvl7pPr>
              <a:defRPr sz="975" b="1">
                <a:solidFill>
                  <a:srgbClr val="546572"/>
                </a:solidFill>
              </a:defRPr>
            </a:lvl7pPr>
            <a:lvl8pPr>
              <a:defRPr sz="975" b="1">
                <a:solidFill>
                  <a:srgbClr val="546572"/>
                </a:solidFill>
              </a:defRPr>
            </a:lvl8pPr>
            <a:lvl9pPr>
              <a:defRPr sz="975" b="1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46572"/>
                </a:solidFill>
              </a:defRPr>
            </a:pPr>
            <a:r>
              <a:rPr sz="975" b="1">
                <a:solidFill>
                  <a:srgbClr val="546572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5A732-B71E-4E7E-95AD-6C80C247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857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800" b="1">
                <a:solidFill>
                  <a:srgbClr val="0A8F91"/>
                </a:solidFill>
              </a:defRPr>
            </a:defPPr>
            <a:lvl1pPr>
              <a:defRPr sz="4800" b="1">
                <a:solidFill>
                  <a:srgbClr val="0A8F91"/>
                </a:solidFill>
              </a:defRPr>
            </a:lvl1pPr>
            <a:lvl2pPr>
              <a:defRPr sz="4800" b="1">
                <a:solidFill>
                  <a:srgbClr val="0A8F91"/>
                </a:solidFill>
              </a:defRPr>
            </a:lvl2pPr>
            <a:lvl3pPr>
              <a:defRPr sz="4800" b="1">
                <a:solidFill>
                  <a:srgbClr val="0A8F91"/>
                </a:solidFill>
              </a:defRPr>
            </a:lvl3pPr>
            <a:lvl4pPr>
              <a:defRPr sz="4800" b="1">
                <a:solidFill>
                  <a:srgbClr val="0A8F91"/>
                </a:solidFill>
              </a:defRPr>
            </a:lvl4pPr>
            <a:lvl5pPr>
              <a:defRPr sz="4800" b="1">
                <a:solidFill>
                  <a:srgbClr val="0A8F91"/>
                </a:solidFill>
              </a:defRPr>
            </a:lvl5pPr>
            <a:lvl6pPr>
              <a:defRPr sz="4800" b="1">
                <a:solidFill>
                  <a:srgbClr val="0A8F91"/>
                </a:solidFill>
              </a:defRPr>
            </a:lvl6pPr>
            <a:lvl7pPr>
              <a:defRPr sz="4800" b="1">
                <a:solidFill>
                  <a:srgbClr val="0A8F91"/>
                </a:solidFill>
              </a:defRPr>
            </a:lvl7pPr>
            <a:lvl8pPr>
              <a:defRPr sz="4800" b="1">
                <a:solidFill>
                  <a:srgbClr val="0A8F91"/>
                </a:solidFill>
              </a:defRPr>
            </a:lvl8pPr>
            <a:lvl9pPr>
              <a:defRPr sz="4800" b="1">
                <a:solidFill>
                  <a:srgbClr val="0A8F91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A8F91"/>
                </a:solidFill>
              </a:defRPr>
            </a:pPr>
            <a:r>
              <a:rPr sz="4800" b="1">
                <a:solidFill>
                  <a:srgbClr val="0A8F91"/>
                </a:solidFill>
              </a:rPr>
              <a:t>₹60,000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392FB-1E4D-4E7A-9325-C8D1D52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00325"/>
            <a:ext cx="5448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546572"/>
                </a:solidFill>
              </a:defRPr>
            </a:defPPr>
            <a:lvl1pPr>
              <a:defRPr sz="1725" b="0">
                <a:solidFill>
                  <a:srgbClr val="546572"/>
                </a:solidFill>
              </a:defRPr>
            </a:lvl1pPr>
            <a:lvl2pPr>
              <a:defRPr sz="1725" b="0">
                <a:solidFill>
                  <a:srgbClr val="546572"/>
                </a:solidFill>
              </a:defRPr>
            </a:lvl2pPr>
            <a:lvl3pPr>
              <a:defRPr sz="1725" b="0">
                <a:solidFill>
                  <a:srgbClr val="546572"/>
                </a:solidFill>
              </a:defRPr>
            </a:lvl3pPr>
            <a:lvl4pPr>
              <a:defRPr sz="1725" b="0">
                <a:solidFill>
                  <a:srgbClr val="546572"/>
                </a:solidFill>
              </a:defRPr>
            </a:lvl4pPr>
            <a:lvl5pPr>
              <a:defRPr sz="1725" b="0">
                <a:solidFill>
                  <a:srgbClr val="546572"/>
                </a:solidFill>
              </a:defRPr>
            </a:lvl5pPr>
            <a:lvl6pPr>
              <a:defRPr sz="1725" b="0">
                <a:solidFill>
                  <a:srgbClr val="546572"/>
                </a:solidFill>
              </a:defRPr>
            </a:lvl6pPr>
            <a:lvl7pPr>
              <a:defRPr sz="1725" b="0">
                <a:solidFill>
                  <a:srgbClr val="546572"/>
                </a:solidFill>
              </a:defRPr>
            </a:lvl7pPr>
            <a:lvl8pPr>
              <a:defRPr sz="1725" b="0">
                <a:solidFill>
                  <a:srgbClr val="546572"/>
                </a:solidFill>
              </a:defRPr>
            </a:lvl8pPr>
            <a:lvl9pPr>
              <a:defRPr sz="1725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572"/>
                </a:solidFill>
              </a:defRPr>
            </a:pPr>
            <a:r>
              <a:rPr sz="1725" b="0">
                <a:solidFill>
                  <a:srgbClr val="546572"/>
                </a:solidFill>
              </a:rPr>
              <a:t>eligible to pursue in the hero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ADE2F-C987-43CD-A3D4-8ACC6A3F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95450"/>
            <a:ext cx="4857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800" b="1">
                <a:solidFill>
                  <a:srgbClr val="B76B23"/>
                </a:solidFill>
              </a:defRPr>
            </a:defPPr>
            <a:lvl1pPr>
              <a:defRPr sz="4800" b="1">
                <a:solidFill>
                  <a:srgbClr val="B76B23"/>
                </a:solidFill>
              </a:defRPr>
            </a:lvl1pPr>
            <a:lvl2pPr>
              <a:defRPr sz="4800" b="1">
                <a:solidFill>
                  <a:srgbClr val="B76B23"/>
                </a:solidFill>
              </a:defRPr>
            </a:lvl2pPr>
            <a:lvl3pPr>
              <a:defRPr sz="4800" b="1">
                <a:solidFill>
                  <a:srgbClr val="B76B23"/>
                </a:solidFill>
              </a:defRPr>
            </a:lvl3pPr>
            <a:lvl4pPr>
              <a:defRPr sz="4800" b="1">
                <a:solidFill>
                  <a:srgbClr val="B76B23"/>
                </a:solidFill>
              </a:defRPr>
            </a:lvl4pPr>
            <a:lvl5pPr>
              <a:defRPr sz="4800" b="1">
                <a:solidFill>
                  <a:srgbClr val="B76B23"/>
                </a:solidFill>
              </a:defRPr>
            </a:lvl5pPr>
            <a:lvl6pPr>
              <a:defRPr sz="4800" b="1">
                <a:solidFill>
                  <a:srgbClr val="B76B23"/>
                </a:solidFill>
              </a:defRPr>
            </a:lvl6pPr>
            <a:lvl7pPr>
              <a:defRPr sz="4800" b="1">
                <a:solidFill>
                  <a:srgbClr val="B76B23"/>
                </a:solidFill>
              </a:defRPr>
            </a:lvl7pPr>
            <a:lvl8pPr>
              <a:defRPr sz="4800" b="1">
                <a:solidFill>
                  <a:srgbClr val="B76B23"/>
                </a:solidFill>
              </a:defRPr>
            </a:lvl8pPr>
            <a:lvl9pPr>
              <a:defRPr sz="4800" b="1">
                <a:solidFill>
                  <a:srgbClr val="B76B23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B76B23"/>
                </a:solidFill>
              </a:defRPr>
            </a:pPr>
            <a:r>
              <a:rPr sz="4800" b="1">
                <a:solidFill>
                  <a:srgbClr val="B76B23"/>
                </a:solidFill>
              </a:rPr>
              <a:t>₹30,000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E9287-A36F-4A6E-B776-0C36F370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03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546572"/>
                </a:solidFill>
              </a:defRPr>
            </a:defPPr>
            <a:lvl1pPr>
              <a:defRPr sz="1725" b="0">
                <a:solidFill>
                  <a:srgbClr val="546572"/>
                </a:solidFill>
              </a:defRPr>
            </a:lvl1pPr>
            <a:lvl2pPr>
              <a:defRPr sz="1725" b="0">
                <a:solidFill>
                  <a:srgbClr val="546572"/>
                </a:solidFill>
              </a:defRPr>
            </a:lvl2pPr>
            <a:lvl3pPr>
              <a:defRPr sz="1725" b="0">
                <a:solidFill>
                  <a:srgbClr val="546572"/>
                </a:solidFill>
              </a:defRPr>
            </a:lvl3pPr>
            <a:lvl4pPr>
              <a:defRPr sz="1725" b="0">
                <a:solidFill>
                  <a:srgbClr val="546572"/>
                </a:solidFill>
              </a:defRPr>
            </a:lvl4pPr>
            <a:lvl5pPr>
              <a:defRPr sz="1725" b="0">
                <a:solidFill>
                  <a:srgbClr val="546572"/>
                </a:solidFill>
              </a:defRPr>
            </a:lvl5pPr>
            <a:lvl6pPr>
              <a:defRPr sz="1725" b="0">
                <a:solidFill>
                  <a:srgbClr val="546572"/>
                </a:solidFill>
              </a:defRPr>
            </a:lvl6pPr>
            <a:lvl7pPr>
              <a:defRPr sz="1725" b="0">
                <a:solidFill>
                  <a:srgbClr val="546572"/>
                </a:solidFill>
              </a:defRPr>
            </a:lvl7pPr>
            <a:lvl8pPr>
              <a:defRPr sz="1725" b="0">
                <a:solidFill>
                  <a:srgbClr val="546572"/>
                </a:solidFill>
              </a:defRPr>
            </a:lvl8pPr>
            <a:lvl9pPr>
              <a:defRPr sz="1725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572"/>
                </a:solidFill>
              </a:defRPr>
            </a:pPr>
            <a:r>
              <a:rPr sz="1725" b="0">
                <a:solidFill>
                  <a:srgbClr val="546572"/>
                </a:solidFill>
              </a:rPr>
              <a:t>kept out of the collection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280A9-CCD1-4A0C-9F08-B8B11A0F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4332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0E2637"/>
                </a:solidFill>
              </a:defRPr>
            </a:defPPr>
            <a:lvl1pPr>
              <a:defRPr sz="2175" b="1">
                <a:solidFill>
                  <a:srgbClr val="0E2637"/>
                </a:solidFill>
              </a:defRPr>
            </a:lvl1pPr>
            <a:lvl2pPr>
              <a:defRPr sz="2175" b="1">
                <a:solidFill>
                  <a:srgbClr val="0E2637"/>
                </a:solidFill>
              </a:defRPr>
            </a:lvl2pPr>
            <a:lvl3pPr>
              <a:defRPr sz="2175" b="1">
                <a:solidFill>
                  <a:srgbClr val="0E2637"/>
                </a:solidFill>
              </a:defRPr>
            </a:lvl3pPr>
            <a:lvl4pPr>
              <a:defRPr sz="2175" b="1">
                <a:solidFill>
                  <a:srgbClr val="0E2637"/>
                </a:solidFill>
              </a:defRPr>
            </a:lvl4pPr>
            <a:lvl5pPr>
              <a:defRPr sz="2175" b="1">
                <a:solidFill>
                  <a:srgbClr val="0E2637"/>
                </a:solidFill>
              </a:defRPr>
            </a:lvl5pPr>
            <a:lvl6pPr>
              <a:defRPr sz="2175" b="1">
                <a:solidFill>
                  <a:srgbClr val="0E2637"/>
                </a:solidFill>
              </a:defRPr>
            </a:lvl6pPr>
            <a:lvl7pPr>
              <a:defRPr sz="2175" b="1">
                <a:solidFill>
                  <a:srgbClr val="0E2637"/>
                </a:solidFill>
              </a:defRPr>
            </a:lvl7pPr>
            <a:lvl8pPr>
              <a:defRPr sz="2175" b="1">
                <a:solidFill>
                  <a:srgbClr val="0E2637"/>
                </a:solidFill>
              </a:defRPr>
            </a:lvl8pPr>
            <a:lvl9pPr>
              <a:defRPr sz="217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E2637"/>
                </a:solidFill>
              </a:defRPr>
            </a:pPr>
            <a:r>
              <a:rPr sz="2175" b="1">
                <a:solidFill>
                  <a:srgbClr val="0E2637"/>
                </a:solidFill>
              </a:rPr>
              <a:t>Potential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D7ED5-E6FD-4890-94A3-C7DA5CB7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862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0E2637"/>
                </a:solidFill>
              </a:defRPr>
            </a:defPPr>
            <a:lvl1pPr>
              <a:defRPr sz="1875" b="0">
                <a:solidFill>
                  <a:srgbClr val="0E2637"/>
                </a:solidFill>
              </a:defRPr>
            </a:lvl1pPr>
            <a:lvl2pPr>
              <a:defRPr sz="1875" b="0">
                <a:solidFill>
                  <a:srgbClr val="0E2637"/>
                </a:solidFill>
              </a:defRPr>
            </a:lvl2pPr>
            <a:lvl3pPr>
              <a:defRPr sz="1875" b="0">
                <a:solidFill>
                  <a:srgbClr val="0E2637"/>
                </a:solidFill>
              </a:defRPr>
            </a:lvl3pPr>
            <a:lvl4pPr>
              <a:defRPr sz="1875" b="0">
                <a:solidFill>
                  <a:srgbClr val="0E2637"/>
                </a:solidFill>
              </a:defRPr>
            </a:lvl4pPr>
            <a:lvl5pPr>
              <a:defRPr sz="1875" b="0">
                <a:solidFill>
                  <a:srgbClr val="0E2637"/>
                </a:solidFill>
              </a:defRPr>
            </a:lvl5pPr>
            <a:lvl6pPr>
              <a:defRPr sz="1875" b="0">
                <a:solidFill>
                  <a:srgbClr val="0E2637"/>
                </a:solidFill>
              </a:defRPr>
            </a:lvl6pPr>
            <a:lvl7pPr>
              <a:defRPr sz="1875" b="0">
                <a:solidFill>
                  <a:srgbClr val="0E2637"/>
                </a:solidFill>
              </a:defRPr>
            </a:lvl7pPr>
            <a:lvl8pPr>
              <a:defRPr sz="1875" b="0">
                <a:solidFill>
                  <a:srgbClr val="0E2637"/>
                </a:solidFill>
              </a:defRPr>
            </a:lvl8pPr>
            <a:lvl9pPr>
              <a:defRPr sz="1875" b="0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E2637"/>
                </a:solidFill>
              </a:defRPr>
            </a:pPr>
            <a:r>
              <a:rPr sz="1875" b="0">
                <a:solidFill>
                  <a:srgbClr val="0E2637"/>
                </a:solidFill>
              </a:rPr>
              <a:t>Less staff reconciliation time, fewer incorrect demands, and a clearer queue of undisputed cash.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00B6A-2D98-4897-8135-B50D4740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14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B76B23"/>
                </a:solidFill>
              </a:defRPr>
            </a:defPPr>
            <a:lvl1pPr>
              <a:defRPr sz="1425" b="0">
                <a:solidFill>
                  <a:srgbClr val="B76B23"/>
                </a:solidFill>
              </a:defRPr>
            </a:lvl1pPr>
            <a:lvl2pPr>
              <a:defRPr sz="1425" b="0">
                <a:solidFill>
                  <a:srgbClr val="B76B23"/>
                </a:solidFill>
              </a:defRPr>
            </a:lvl2pPr>
            <a:lvl3pPr>
              <a:defRPr sz="1425" b="0">
                <a:solidFill>
                  <a:srgbClr val="B76B23"/>
                </a:solidFill>
              </a:defRPr>
            </a:lvl3pPr>
            <a:lvl4pPr>
              <a:defRPr sz="1425" b="0">
                <a:solidFill>
                  <a:srgbClr val="B76B23"/>
                </a:solidFill>
              </a:defRPr>
            </a:lvl4pPr>
            <a:lvl5pPr>
              <a:defRPr sz="1425" b="0">
                <a:solidFill>
                  <a:srgbClr val="B76B23"/>
                </a:solidFill>
              </a:defRPr>
            </a:lvl5pPr>
            <a:lvl6pPr>
              <a:defRPr sz="1425" b="0">
                <a:solidFill>
                  <a:srgbClr val="B76B23"/>
                </a:solidFill>
              </a:defRPr>
            </a:lvl6pPr>
            <a:lvl7pPr>
              <a:defRPr sz="1425" b="0">
                <a:solidFill>
                  <a:srgbClr val="B76B23"/>
                </a:solidFill>
              </a:defRPr>
            </a:lvl7pPr>
            <a:lvl8pPr>
              <a:defRPr sz="1425" b="0">
                <a:solidFill>
                  <a:srgbClr val="B76B23"/>
                </a:solidFill>
              </a:defRPr>
            </a:lvl8pPr>
            <a:lvl9pPr>
              <a:defRPr sz="1425" b="0">
                <a:solidFill>
                  <a:srgbClr val="B76B2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76B23"/>
                </a:solidFill>
              </a:defRPr>
            </a:pPr>
            <a:r>
              <a:rPr sz="1425" b="0">
                <a:solidFill>
                  <a:srgbClr val="B76B23"/>
                </a:solidFill>
              </a:rPr>
              <a:t>Pilot KPI: measure minutes per case, draft correction rate, eligible balance contacted and verified receipts. Recovery uplift is not yet measured.</a:t>
            </a:r>
          </a:p>
        </p:txBody>
      </p:sp>
    </p:spTree>
    <p:extLst>
      <p:ext uri="{BB962C8B-B14F-4D97-AF65-F5344CB8AC3E}">
        <p14:creationId xmlns:p14="http://schemas.microsoft.com/office/powerpoint/2010/main" val="940618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730B3-F9FC-4F26-8A60-6B8B5552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0E2637"/>
                </a:solidFill>
              </a:defRPr>
            </a:defPPr>
            <a:lvl1pPr>
              <a:defRPr sz="2700" b="1">
                <a:solidFill>
                  <a:srgbClr val="0E2637"/>
                </a:solidFill>
              </a:defRPr>
            </a:lvl1pPr>
            <a:lvl2pPr>
              <a:defRPr sz="2700" b="1">
                <a:solidFill>
                  <a:srgbClr val="0E2637"/>
                </a:solidFill>
              </a:defRPr>
            </a:lvl2pPr>
            <a:lvl3pPr>
              <a:defRPr sz="2700" b="1">
                <a:solidFill>
                  <a:srgbClr val="0E2637"/>
                </a:solidFill>
              </a:defRPr>
            </a:lvl3pPr>
            <a:lvl4pPr>
              <a:defRPr sz="2700" b="1">
                <a:solidFill>
                  <a:srgbClr val="0E2637"/>
                </a:solidFill>
              </a:defRPr>
            </a:lvl4pPr>
            <a:lvl5pPr>
              <a:defRPr sz="2700" b="1">
                <a:solidFill>
                  <a:srgbClr val="0E2637"/>
                </a:solidFill>
              </a:defRPr>
            </a:lvl5pPr>
            <a:lvl6pPr>
              <a:defRPr sz="2700" b="1">
                <a:solidFill>
                  <a:srgbClr val="0E2637"/>
                </a:solidFill>
              </a:defRPr>
            </a:lvl6pPr>
            <a:lvl7pPr>
              <a:defRPr sz="2700" b="1">
                <a:solidFill>
                  <a:srgbClr val="0E2637"/>
                </a:solidFill>
              </a:defRPr>
            </a:lvl7pPr>
            <a:lvl8pPr>
              <a:defRPr sz="2700" b="1">
                <a:solidFill>
                  <a:srgbClr val="0E2637"/>
                </a:solidFill>
              </a:defRPr>
            </a:lvl8pPr>
            <a:lvl9pPr>
              <a:defRPr sz="2700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E2637"/>
                </a:solidFill>
              </a:defRPr>
            </a:pPr>
            <a:r>
              <a:rPr sz="2700" b="1">
                <a:solidFill>
                  <a:srgbClr val="0E2637"/>
                </a:solidFill>
              </a:rPr>
              <a:t>MVP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37575-B35F-48CA-A0FB-61F7FE6E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46572"/>
                </a:solidFill>
              </a:defRPr>
            </a:defPPr>
            <a:lvl1pPr>
              <a:defRPr sz="975" b="1">
                <a:solidFill>
                  <a:srgbClr val="546572"/>
                </a:solidFill>
              </a:defRPr>
            </a:lvl1pPr>
            <a:lvl2pPr>
              <a:defRPr sz="975" b="1">
                <a:solidFill>
                  <a:srgbClr val="546572"/>
                </a:solidFill>
              </a:defRPr>
            </a:lvl2pPr>
            <a:lvl3pPr>
              <a:defRPr sz="975" b="1">
                <a:solidFill>
                  <a:srgbClr val="546572"/>
                </a:solidFill>
              </a:defRPr>
            </a:lvl3pPr>
            <a:lvl4pPr>
              <a:defRPr sz="975" b="1">
                <a:solidFill>
                  <a:srgbClr val="546572"/>
                </a:solidFill>
              </a:defRPr>
            </a:lvl4pPr>
            <a:lvl5pPr>
              <a:defRPr sz="975" b="1">
                <a:solidFill>
                  <a:srgbClr val="546572"/>
                </a:solidFill>
              </a:defRPr>
            </a:lvl5pPr>
            <a:lvl6pPr>
              <a:defRPr sz="975" b="1">
                <a:solidFill>
                  <a:srgbClr val="546572"/>
                </a:solidFill>
              </a:defRPr>
            </a:lvl6pPr>
            <a:lvl7pPr>
              <a:defRPr sz="975" b="1">
                <a:solidFill>
                  <a:srgbClr val="546572"/>
                </a:solidFill>
              </a:defRPr>
            </a:lvl7pPr>
            <a:lvl8pPr>
              <a:defRPr sz="975" b="1">
                <a:solidFill>
                  <a:srgbClr val="546572"/>
                </a:solidFill>
              </a:defRPr>
            </a:lvl8pPr>
            <a:lvl9pPr>
              <a:defRPr sz="975" b="1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46572"/>
                </a:solidFill>
              </a:defRPr>
            </a:pPr>
            <a:r>
              <a:rPr sz="975" b="1">
                <a:solidFill>
                  <a:srgbClr val="546572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6EC26-44EF-4D57-B421-9E8B590B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14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0E2637"/>
                </a:solidFill>
              </a:defRPr>
            </a:defPPr>
            <a:lvl1pPr>
              <a:defRPr sz="2325" b="1">
                <a:solidFill>
                  <a:srgbClr val="0E2637"/>
                </a:solidFill>
              </a:defRPr>
            </a:lvl1pPr>
            <a:lvl2pPr>
              <a:defRPr sz="2325" b="1">
                <a:solidFill>
                  <a:srgbClr val="0E2637"/>
                </a:solidFill>
              </a:defRPr>
            </a:lvl2pPr>
            <a:lvl3pPr>
              <a:defRPr sz="2325" b="1">
                <a:solidFill>
                  <a:srgbClr val="0E2637"/>
                </a:solidFill>
              </a:defRPr>
            </a:lvl3pPr>
            <a:lvl4pPr>
              <a:defRPr sz="2325" b="1">
                <a:solidFill>
                  <a:srgbClr val="0E2637"/>
                </a:solidFill>
              </a:defRPr>
            </a:lvl4pPr>
            <a:lvl5pPr>
              <a:defRPr sz="2325" b="1">
                <a:solidFill>
                  <a:srgbClr val="0E2637"/>
                </a:solidFill>
              </a:defRPr>
            </a:lvl5pPr>
            <a:lvl6pPr>
              <a:defRPr sz="2325" b="1">
                <a:solidFill>
                  <a:srgbClr val="0E2637"/>
                </a:solidFill>
              </a:defRPr>
            </a:lvl6pPr>
            <a:lvl7pPr>
              <a:defRPr sz="2325" b="1">
                <a:solidFill>
                  <a:srgbClr val="0E2637"/>
                </a:solidFill>
              </a:defRPr>
            </a:lvl7pPr>
            <a:lvl8pPr>
              <a:defRPr sz="2325" b="1">
                <a:solidFill>
                  <a:srgbClr val="0E2637"/>
                </a:solidFill>
              </a:defRPr>
            </a:lvl8pPr>
            <a:lvl9pPr>
              <a:defRPr sz="2325" b="1">
                <a:solidFill>
                  <a:srgbClr val="0E2637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E2637"/>
                </a:solidFill>
              </a:defRPr>
            </a:pPr>
            <a:r>
              <a:rPr sz="2325" b="1">
                <a:solidFill>
                  <a:srgbClr val="0E2637"/>
                </a:solidFill>
              </a:rPr>
              <a:t>Offline end-to-end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B130B-AB40-4706-B1C7-F14843EB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546572"/>
                </a:solidFill>
              </a:defRPr>
            </a:defPPr>
            <a:lvl1pPr>
              <a:defRPr sz="1800" b="0">
                <a:solidFill>
                  <a:srgbClr val="546572"/>
                </a:solidFill>
              </a:defRPr>
            </a:lvl1pPr>
            <a:lvl2pPr>
              <a:defRPr sz="1800" b="0">
                <a:solidFill>
                  <a:srgbClr val="546572"/>
                </a:solidFill>
              </a:defRPr>
            </a:lvl2pPr>
            <a:lvl3pPr>
              <a:defRPr sz="1800" b="0">
                <a:solidFill>
                  <a:srgbClr val="546572"/>
                </a:solidFill>
              </a:defRPr>
            </a:lvl3pPr>
            <a:lvl4pPr>
              <a:defRPr sz="1800" b="0">
                <a:solidFill>
                  <a:srgbClr val="546572"/>
                </a:solidFill>
              </a:defRPr>
            </a:lvl4pPr>
            <a:lvl5pPr>
              <a:defRPr sz="1800" b="0">
                <a:solidFill>
                  <a:srgbClr val="546572"/>
                </a:solidFill>
              </a:defRPr>
            </a:lvl5pPr>
            <a:lvl6pPr>
              <a:defRPr sz="1800" b="0">
                <a:solidFill>
                  <a:srgbClr val="546572"/>
                </a:solidFill>
              </a:defRPr>
            </a:lvl6pPr>
            <a:lvl7pPr>
              <a:defRPr sz="1800" b="0">
                <a:solidFill>
                  <a:srgbClr val="546572"/>
                </a:solidFill>
              </a:defRPr>
            </a:lvl7pPr>
            <a:lvl8pPr>
              <a:defRPr sz="1800" b="0">
                <a:solidFill>
                  <a:srgbClr val="546572"/>
                </a:solidFill>
              </a:defRPr>
            </a:lvl8pPr>
            <a:lvl9pPr>
              <a:defRPr sz="1800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572"/>
                </a:solidFill>
              </a:defRPr>
            </a:pPr>
            <a:r>
              <a:rPr sz="1800" b="0">
                <a:solidFill>
                  <a:srgbClr val="546572"/>
                </a:solidFill>
              </a:rPr>
              <a:t>CSV + PDFs  →  source-linked case  →  edited approval  →  sandbox negotiation  →  SIMULATED matched payment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CB91F-AC08-4FA1-B34B-11068893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19475"/>
            <a:ext cx="3171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75" b="1">
                <a:solidFill>
                  <a:srgbClr val="0A8F91"/>
                </a:solidFill>
              </a:defRPr>
            </a:defPPr>
            <a:lvl1pPr>
              <a:defRPr sz="3975" b="1">
                <a:solidFill>
                  <a:srgbClr val="0A8F91"/>
                </a:solidFill>
              </a:defRPr>
            </a:lvl1pPr>
            <a:lvl2pPr>
              <a:defRPr sz="3975" b="1">
                <a:solidFill>
                  <a:srgbClr val="0A8F91"/>
                </a:solidFill>
              </a:defRPr>
            </a:lvl2pPr>
            <a:lvl3pPr>
              <a:defRPr sz="3975" b="1">
                <a:solidFill>
                  <a:srgbClr val="0A8F91"/>
                </a:solidFill>
              </a:defRPr>
            </a:lvl3pPr>
            <a:lvl4pPr>
              <a:defRPr sz="3975" b="1">
                <a:solidFill>
                  <a:srgbClr val="0A8F91"/>
                </a:solidFill>
              </a:defRPr>
            </a:lvl4pPr>
            <a:lvl5pPr>
              <a:defRPr sz="3975" b="1">
                <a:solidFill>
                  <a:srgbClr val="0A8F91"/>
                </a:solidFill>
              </a:defRPr>
            </a:lvl5pPr>
            <a:lvl6pPr>
              <a:defRPr sz="3975" b="1">
                <a:solidFill>
                  <a:srgbClr val="0A8F91"/>
                </a:solidFill>
              </a:defRPr>
            </a:lvl6pPr>
            <a:lvl7pPr>
              <a:defRPr sz="3975" b="1">
                <a:solidFill>
                  <a:srgbClr val="0A8F91"/>
                </a:solidFill>
              </a:defRPr>
            </a:lvl7pPr>
            <a:lvl8pPr>
              <a:defRPr sz="3975" b="1">
                <a:solidFill>
                  <a:srgbClr val="0A8F91"/>
                </a:solidFill>
              </a:defRPr>
            </a:lvl8pPr>
            <a:lvl9pPr>
              <a:defRPr sz="3975" b="1">
                <a:solidFill>
                  <a:srgbClr val="0A8F91"/>
                </a:solidFill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0A8F91"/>
                </a:solidFill>
              </a:defRPr>
            </a:pPr>
            <a:r>
              <a:rPr sz="3975" b="1">
                <a:solidFill>
                  <a:srgbClr val="0A8F91"/>
                </a:solidFill>
              </a:rPr>
              <a:t>30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09E83-2B68-438C-B28D-3DC2AF2E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46572"/>
                </a:solidFill>
              </a:defRPr>
            </a:defPPr>
            <a:lvl1pPr>
              <a:defRPr sz="1500" b="0">
                <a:solidFill>
                  <a:srgbClr val="546572"/>
                </a:solidFill>
              </a:defRPr>
            </a:lvl1pPr>
            <a:lvl2pPr>
              <a:defRPr sz="1500" b="0">
                <a:solidFill>
                  <a:srgbClr val="546572"/>
                </a:solidFill>
              </a:defRPr>
            </a:lvl2pPr>
            <a:lvl3pPr>
              <a:defRPr sz="1500" b="0">
                <a:solidFill>
                  <a:srgbClr val="546572"/>
                </a:solidFill>
              </a:defRPr>
            </a:lvl3pPr>
            <a:lvl4pPr>
              <a:defRPr sz="1500" b="0">
                <a:solidFill>
                  <a:srgbClr val="546572"/>
                </a:solidFill>
              </a:defRPr>
            </a:lvl4pPr>
            <a:lvl5pPr>
              <a:defRPr sz="1500" b="0">
                <a:solidFill>
                  <a:srgbClr val="546572"/>
                </a:solidFill>
              </a:defRPr>
            </a:lvl5pPr>
            <a:lvl6pPr>
              <a:defRPr sz="1500" b="0">
                <a:solidFill>
                  <a:srgbClr val="546572"/>
                </a:solidFill>
              </a:defRPr>
            </a:lvl6pPr>
            <a:lvl7pPr>
              <a:defRPr sz="1500" b="0">
                <a:solidFill>
                  <a:srgbClr val="546572"/>
                </a:solidFill>
              </a:defRPr>
            </a:lvl7pPr>
            <a:lvl8pPr>
              <a:defRPr sz="1500" b="0">
                <a:solidFill>
                  <a:srgbClr val="546572"/>
                </a:solidFill>
              </a:defRPr>
            </a:lvl8pPr>
            <a:lvl9pPr>
              <a:defRPr sz="1500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572"/>
                </a:solidFill>
              </a:defRPr>
            </a:pPr>
            <a:r>
              <a:rPr sz="1500" b="0">
                <a:solidFill>
                  <a:srgbClr val="546572"/>
                </a:solidFill>
              </a:rPr>
              <a:t>synthetic ledger splits correct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8E20E-3E6F-4B0A-9A6F-EA563FF2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19475"/>
            <a:ext cx="314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75" b="1">
                <a:solidFill>
                  <a:srgbClr val="0A8F91"/>
                </a:solidFill>
              </a:defRPr>
            </a:defPPr>
            <a:lvl1pPr>
              <a:defRPr sz="3975" b="1">
                <a:solidFill>
                  <a:srgbClr val="0A8F91"/>
                </a:solidFill>
              </a:defRPr>
            </a:lvl1pPr>
            <a:lvl2pPr>
              <a:defRPr sz="3975" b="1">
                <a:solidFill>
                  <a:srgbClr val="0A8F91"/>
                </a:solidFill>
              </a:defRPr>
            </a:lvl2pPr>
            <a:lvl3pPr>
              <a:defRPr sz="3975" b="1">
                <a:solidFill>
                  <a:srgbClr val="0A8F91"/>
                </a:solidFill>
              </a:defRPr>
            </a:lvl3pPr>
            <a:lvl4pPr>
              <a:defRPr sz="3975" b="1">
                <a:solidFill>
                  <a:srgbClr val="0A8F91"/>
                </a:solidFill>
              </a:defRPr>
            </a:lvl4pPr>
            <a:lvl5pPr>
              <a:defRPr sz="3975" b="1">
                <a:solidFill>
                  <a:srgbClr val="0A8F91"/>
                </a:solidFill>
              </a:defRPr>
            </a:lvl5pPr>
            <a:lvl6pPr>
              <a:defRPr sz="3975" b="1">
                <a:solidFill>
                  <a:srgbClr val="0A8F91"/>
                </a:solidFill>
              </a:defRPr>
            </a:lvl6pPr>
            <a:lvl7pPr>
              <a:defRPr sz="3975" b="1">
                <a:solidFill>
                  <a:srgbClr val="0A8F91"/>
                </a:solidFill>
              </a:defRPr>
            </a:lvl7pPr>
            <a:lvl8pPr>
              <a:defRPr sz="3975" b="1">
                <a:solidFill>
                  <a:srgbClr val="0A8F91"/>
                </a:solidFill>
              </a:defRPr>
            </a:lvl8pPr>
            <a:lvl9pPr>
              <a:defRPr sz="3975" b="1">
                <a:solidFill>
                  <a:srgbClr val="0A8F91"/>
                </a:solidFill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0A8F91"/>
                </a:solidFill>
              </a:defRPr>
            </a:pPr>
            <a:r>
              <a:rPr sz="3975" b="1">
                <a:solidFill>
                  <a:srgbClr val="0A8F91"/>
                </a:solidFill>
              </a:rPr>
              <a:t>10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9AD22-E9C2-417C-BEAC-83128AE5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46572"/>
                </a:solidFill>
              </a:defRPr>
            </a:defPPr>
            <a:lvl1pPr>
              <a:defRPr sz="1500" b="0">
                <a:solidFill>
                  <a:srgbClr val="546572"/>
                </a:solidFill>
              </a:defRPr>
            </a:lvl1pPr>
            <a:lvl2pPr>
              <a:defRPr sz="1500" b="0">
                <a:solidFill>
                  <a:srgbClr val="546572"/>
                </a:solidFill>
              </a:defRPr>
            </a:lvl2pPr>
            <a:lvl3pPr>
              <a:defRPr sz="1500" b="0">
                <a:solidFill>
                  <a:srgbClr val="546572"/>
                </a:solidFill>
              </a:defRPr>
            </a:lvl3pPr>
            <a:lvl4pPr>
              <a:defRPr sz="1500" b="0">
                <a:solidFill>
                  <a:srgbClr val="546572"/>
                </a:solidFill>
              </a:defRPr>
            </a:lvl4pPr>
            <a:lvl5pPr>
              <a:defRPr sz="1500" b="0">
                <a:solidFill>
                  <a:srgbClr val="546572"/>
                </a:solidFill>
              </a:defRPr>
            </a:lvl5pPr>
            <a:lvl6pPr>
              <a:defRPr sz="1500" b="0">
                <a:solidFill>
                  <a:srgbClr val="546572"/>
                </a:solidFill>
              </a:defRPr>
            </a:lvl6pPr>
            <a:lvl7pPr>
              <a:defRPr sz="1500" b="0">
                <a:solidFill>
                  <a:srgbClr val="546572"/>
                </a:solidFill>
              </a:defRPr>
            </a:lvl7pPr>
            <a:lvl8pPr>
              <a:defRPr sz="1500" b="0">
                <a:solidFill>
                  <a:srgbClr val="546572"/>
                </a:solidFill>
              </a:defRPr>
            </a:lvl8pPr>
            <a:lvl9pPr>
              <a:defRPr sz="1500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572"/>
                </a:solidFill>
              </a:defRPr>
            </a:pPr>
            <a:r>
              <a:rPr sz="1500" b="0">
                <a:solidFill>
                  <a:srgbClr val="546572"/>
                </a:solidFill>
              </a:rPr>
              <a:t>offline upload routing correct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E992F-B6B7-44FF-A035-F75D2068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19475"/>
            <a:ext cx="314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75" b="1">
                <a:solidFill>
                  <a:srgbClr val="B76B23"/>
                </a:solidFill>
              </a:defRPr>
            </a:defPPr>
            <a:lvl1pPr>
              <a:defRPr sz="3975" b="1">
                <a:solidFill>
                  <a:srgbClr val="B76B23"/>
                </a:solidFill>
              </a:defRPr>
            </a:lvl1pPr>
            <a:lvl2pPr>
              <a:defRPr sz="3975" b="1">
                <a:solidFill>
                  <a:srgbClr val="B76B23"/>
                </a:solidFill>
              </a:defRPr>
            </a:lvl2pPr>
            <a:lvl3pPr>
              <a:defRPr sz="3975" b="1">
                <a:solidFill>
                  <a:srgbClr val="B76B23"/>
                </a:solidFill>
              </a:defRPr>
            </a:lvl3pPr>
            <a:lvl4pPr>
              <a:defRPr sz="3975" b="1">
                <a:solidFill>
                  <a:srgbClr val="B76B23"/>
                </a:solidFill>
              </a:defRPr>
            </a:lvl4pPr>
            <a:lvl5pPr>
              <a:defRPr sz="3975" b="1">
                <a:solidFill>
                  <a:srgbClr val="B76B23"/>
                </a:solidFill>
              </a:defRPr>
            </a:lvl5pPr>
            <a:lvl6pPr>
              <a:defRPr sz="3975" b="1">
                <a:solidFill>
                  <a:srgbClr val="B76B23"/>
                </a:solidFill>
              </a:defRPr>
            </a:lvl6pPr>
            <a:lvl7pPr>
              <a:defRPr sz="3975" b="1">
                <a:solidFill>
                  <a:srgbClr val="B76B23"/>
                </a:solidFill>
              </a:defRPr>
            </a:lvl7pPr>
            <a:lvl8pPr>
              <a:defRPr sz="3975" b="1">
                <a:solidFill>
                  <a:srgbClr val="B76B23"/>
                </a:solidFill>
              </a:defRPr>
            </a:lvl8pPr>
            <a:lvl9pPr>
              <a:defRPr sz="3975" b="1">
                <a:solidFill>
                  <a:srgbClr val="B76B23"/>
                </a:solidFill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B76B23"/>
                </a:solidFill>
              </a:defRPr>
            </a:pPr>
            <a:r>
              <a:rPr sz="3975" b="1">
                <a:solidFill>
                  <a:srgbClr val="B76B23"/>
                </a:solidFill>
              </a:rPr>
              <a:t>5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3687F-DDC6-48A4-B13E-0EE6836C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248150"/>
            <a:ext cx="338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46572"/>
                </a:solidFill>
              </a:defRPr>
            </a:defPPr>
            <a:lvl1pPr>
              <a:defRPr sz="1500" b="0">
                <a:solidFill>
                  <a:srgbClr val="546572"/>
                </a:solidFill>
              </a:defRPr>
            </a:lvl1pPr>
            <a:lvl2pPr>
              <a:defRPr sz="1500" b="0">
                <a:solidFill>
                  <a:srgbClr val="546572"/>
                </a:solidFill>
              </a:defRPr>
            </a:lvl2pPr>
            <a:lvl3pPr>
              <a:defRPr sz="1500" b="0">
                <a:solidFill>
                  <a:srgbClr val="546572"/>
                </a:solidFill>
              </a:defRPr>
            </a:lvl3pPr>
            <a:lvl4pPr>
              <a:defRPr sz="1500" b="0">
                <a:solidFill>
                  <a:srgbClr val="546572"/>
                </a:solidFill>
              </a:defRPr>
            </a:lvl4pPr>
            <a:lvl5pPr>
              <a:defRPr sz="1500" b="0">
                <a:solidFill>
                  <a:srgbClr val="546572"/>
                </a:solidFill>
              </a:defRPr>
            </a:lvl5pPr>
            <a:lvl6pPr>
              <a:defRPr sz="1500" b="0">
                <a:solidFill>
                  <a:srgbClr val="546572"/>
                </a:solidFill>
              </a:defRPr>
            </a:lvl6pPr>
            <a:lvl7pPr>
              <a:defRPr sz="1500" b="0">
                <a:solidFill>
                  <a:srgbClr val="546572"/>
                </a:solidFill>
              </a:defRPr>
            </a:lvl7pPr>
            <a:lvl8pPr>
              <a:defRPr sz="1500" b="0">
                <a:solidFill>
                  <a:srgbClr val="546572"/>
                </a:solidFill>
              </a:defRPr>
            </a:lvl8pPr>
            <a:lvl9pPr>
              <a:defRPr sz="1500" b="0">
                <a:solidFill>
                  <a:srgbClr val="54657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572"/>
                </a:solidFill>
              </a:defRPr>
            </a:pPr>
            <a:r>
              <a:rPr sz="1500" b="0">
                <a:solidFill>
                  <a:srgbClr val="546572"/>
                </a:solidFill>
              </a:rPr>
              <a:t>files reached Review without entry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D7D8C-3145-455A-8BC9-17E2CF63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B76B23"/>
                </a:solidFill>
              </a:defRPr>
            </a:defPPr>
            <a:lvl1pPr>
              <a:defRPr sz="1425" b="0">
                <a:solidFill>
                  <a:srgbClr val="B76B23"/>
                </a:solidFill>
              </a:defRPr>
            </a:lvl1pPr>
            <a:lvl2pPr>
              <a:defRPr sz="1425" b="0">
                <a:solidFill>
                  <a:srgbClr val="B76B23"/>
                </a:solidFill>
              </a:defRPr>
            </a:lvl2pPr>
            <a:lvl3pPr>
              <a:defRPr sz="1425" b="0">
                <a:solidFill>
                  <a:srgbClr val="B76B23"/>
                </a:solidFill>
              </a:defRPr>
            </a:lvl3pPr>
            <a:lvl4pPr>
              <a:defRPr sz="1425" b="0">
                <a:solidFill>
                  <a:srgbClr val="B76B23"/>
                </a:solidFill>
              </a:defRPr>
            </a:lvl4pPr>
            <a:lvl5pPr>
              <a:defRPr sz="1425" b="0">
                <a:solidFill>
                  <a:srgbClr val="B76B23"/>
                </a:solidFill>
              </a:defRPr>
            </a:lvl5pPr>
            <a:lvl6pPr>
              <a:defRPr sz="1425" b="0">
                <a:solidFill>
                  <a:srgbClr val="B76B23"/>
                </a:solidFill>
              </a:defRPr>
            </a:lvl6pPr>
            <a:lvl7pPr>
              <a:defRPr sz="1425" b="0">
                <a:solidFill>
                  <a:srgbClr val="B76B23"/>
                </a:solidFill>
              </a:defRPr>
            </a:lvl7pPr>
            <a:lvl8pPr>
              <a:defRPr sz="1425" b="0">
                <a:solidFill>
                  <a:srgbClr val="B76B23"/>
                </a:solidFill>
              </a:defRPr>
            </a:lvl8pPr>
            <a:lvl9pPr>
              <a:defRPr sz="1425" b="0">
                <a:solidFill>
                  <a:srgbClr val="B76B2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76B23"/>
                </a:solidFill>
              </a:defRPr>
            </a:pPr>
            <a:r>
              <a:rPr sz="1425" b="0">
                <a:solidFill>
                  <a:srgbClr val="B76B23"/>
                </a:solidFill>
              </a:rPr>
              <a:t>Limits: verified dispute amounts supplied to the 30-case ledger test; live image extraction accuracy unmeasured; offline images need staff review.</a:t>
            </a:r>
          </a:p>
        </p:txBody>
      </p:sp>
    </p:spTree>
    <p:extLst>
      <p:ext uri="{BB962C8B-B14F-4D97-AF65-F5344CB8AC3E}">
        <p14:creationId xmlns:p14="http://schemas.microsoft.com/office/powerpoint/2010/main" val="17694505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25D27-0C02-4AFB-8FFB-B3C0A798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</a:defRPr>
            </a:defPPr>
            <a:lvl1pPr>
              <a:defRPr sz="2700" b="1">
                <a:solidFill>
                  <a:srgbClr val="FFFFFF"/>
                </a:solidFill>
              </a:defRPr>
            </a:lvl1pPr>
            <a:lvl2pPr>
              <a:defRPr sz="2700" b="1">
                <a:solidFill>
                  <a:srgbClr val="FFFFFF"/>
                </a:solidFill>
              </a:defRPr>
            </a:lvl2pPr>
            <a:lvl3pPr>
              <a:defRPr sz="2700" b="1">
                <a:solidFill>
                  <a:srgbClr val="FFFFFF"/>
                </a:solidFill>
              </a:defRPr>
            </a:lvl3pPr>
            <a:lvl4pPr>
              <a:defRPr sz="2700" b="1">
                <a:solidFill>
                  <a:srgbClr val="FFFFFF"/>
                </a:solidFill>
              </a:defRPr>
            </a:lvl4pPr>
            <a:lvl5pPr>
              <a:defRPr sz="2700" b="1">
                <a:solidFill>
                  <a:srgbClr val="FFFFFF"/>
                </a:solidFill>
              </a:defRPr>
            </a:lvl5pPr>
            <a:lvl6pPr>
              <a:defRPr sz="2700" b="1">
                <a:solidFill>
                  <a:srgbClr val="FFFFFF"/>
                </a:solidFill>
              </a:defRPr>
            </a:lvl6pPr>
            <a:lvl7pPr>
              <a:defRPr sz="2700" b="1">
                <a:solidFill>
                  <a:srgbClr val="FFFFFF"/>
                </a:solidFill>
              </a:defRPr>
            </a:lvl7pPr>
            <a:lvl8pPr>
              <a:defRPr sz="2700" b="1">
                <a:solidFill>
                  <a:srgbClr val="FFFFFF"/>
                </a:solidFill>
              </a:defRPr>
            </a:lvl8pPr>
            <a:lvl9pPr>
              <a:defRPr sz="27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Originality and innovation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22550-1E3A-4F7F-86CA-0E799E83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96ABBB"/>
                </a:solidFill>
              </a:defRPr>
            </a:defPPr>
            <a:lvl1pPr>
              <a:defRPr sz="975" b="1">
                <a:solidFill>
                  <a:srgbClr val="96ABBB"/>
                </a:solidFill>
              </a:defRPr>
            </a:lvl1pPr>
            <a:lvl2pPr>
              <a:defRPr sz="975" b="1">
                <a:solidFill>
                  <a:srgbClr val="96ABBB"/>
                </a:solidFill>
              </a:defRPr>
            </a:lvl2pPr>
            <a:lvl3pPr>
              <a:defRPr sz="975" b="1">
                <a:solidFill>
                  <a:srgbClr val="96ABBB"/>
                </a:solidFill>
              </a:defRPr>
            </a:lvl3pPr>
            <a:lvl4pPr>
              <a:defRPr sz="975" b="1">
                <a:solidFill>
                  <a:srgbClr val="96ABBB"/>
                </a:solidFill>
              </a:defRPr>
            </a:lvl4pPr>
            <a:lvl5pPr>
              <a:defRPr sz="975" b="1">
                <a:solidFill>
                  <a:srgbClr val="96ABBB"/>
                </a:solidFill>
              </a:defRPr>
            </a:lvl5pPr>
            <a:lvl6pPr>
              <a:defRPr sz="975" b="1">
                <a:solidFill>
                  <a:srgbClr val="96ABBB"/>
                </a:solidFill>
              </a:defRPr>
            </a:lvl6pPr>
            <a:lvl7pPr>
              <a:defRPr sz="975" b="1">
                <a:solidFill>
                  <a:srgbClr val="96ABBB"/>
                </a:solidFill>
              </a:defRPr>
            </a:lvl7pPr>
            <a:lvl8pPr>
              <a:defRPr sz="975" b="1">
                <a:solidFill>
                  <a:srgbClr val="96ABBB"/>
                </a:solidFill>
              </a:defRPr>
            </a:lvl8pPr>
            <a:lvl9pPr>
              <a:defRPr sz="975" b="1">
                <a:solidFill>
                  <a:srgbClr val="96ABB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96ABBB"/>
                </a:solidFill>
              </a:defRPr>
            </a:pPr>
            <a:r>
              <a:rPr sz="975" b="1">
                <a:solidFill>
                  <a:srgbClr val="96ABBB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DCBAE-795F-4C95-9609-CD9B9A6C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5238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7FE2D7"/>
                </a:solidFill>
              </a:defRPr>
            </a:defPPr>
            <a:lvl1pPr>
              <a:defRPr sz="2400" b="1">
                <a:solidFill>
                  <a:srgbClr val="7FE2D7"/>
                </a:solidFill>
              </a:defRPr>
            </a:lvl1pPr>
            <a:lvl2pPr>
              <a:defRPr sz="2400" b="1">
                <a:solidFill>
                  <a:srgbClr val="7FE2D7"/>
                </a:solidFill>
              </a:defRPr>
            </a:lvl2pPr>
            <a:lvl3pPr>
              <a:defRPr sz="2400" b="1">
                <a:solidFill>
                  <a:srgbClr val="7FE2D7"/>
                </a:solidFill>
              </a:defRPr>
            </a:lvl3pPr>
            <a:lvl4pPr>
              <a:defRPr sz="2400" b="1">
                <a:solidFill>
                  <a:srgbClr val="7FE2D7"/>
                </a:solidFill>
              </a:defRPr>
            </a:lvl4pPr>
            <a:lvl5pPr>
              <a:defRPr sz="2400" b="1">
                <a:solidFill>
                  <a:srgbClr val="7FE2D7"/>
                </a:solidFill>
              </a:defRPr>
            </a:lvl5pPr>
            <a:lvl6pPr>
              <a:defRPr sz="2400" b="1">
                <a:solidFill>
                  <a:srgbClr val="7FE2D7"/>
                </a:solidFill>
              </a:defRPr>
            </a:lvl6pPr>
            <a:lvl7pPr>
              <a:defRPr sz="2400" b="1">
                <a:solidFill>
                  <a:srgbClr val="7FE2D7"/>
                </a:solidFill>
              </a:defRPr>
            </a:lvl7pPr>
            <a:lvl8pPr>
              <a:defRPr sz="2400" b="1">
                <a:solidFill>
                  <a:srgbClr val="7FE2D7"/>
                </a:solidFill>
              </a:defRPr>
            </a:lvl8pPr>
            <a:lvl9pPr>
              <a:defRPr sz="2400" b="1">
                <a:solidFill>
                  <a:srgbClr val="7FE2D7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FE2D7"/>
                </a:solidFill>
              </a:defRPr>
            </a:pPr>
            <a:r>
              <a:rPr sz="2400" b="1">
                <a:solidFill>
                  <a:srgbClr val="7FE2D7"/>
                </a:solidFill>
              </a:rPr>
              <a:t>The narrow 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E5B08-A59C-4161-B40B-518387A9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28850"/>
            <a:ext cx="1038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Evidence-linked handling of partial payments and disputes for India-focused small credit teams.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F389D-3934-4413-A0E0-819CDE69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5524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8AA64"/>
                </a:solidFill>
              </a:defRPr>
            </a:defPPr>
            <a:lvl1pPr>
              <a:defRPr sz="2400" b="1">
                <a:solidFill>
                  <a:srgbClr val="E8AA64"/>
                </a:solidFill>
              </a:defRPr>
            </a:lvl1pPr>
            <a:lvl2pPr>
              <a:defRPr sz="2400" b="1">
                <a:solidFill>
                  <a:srgbClr val="E8AA64"/>
                </a:solidFill>
              </a:defRPr>
            </a:lvl2pPr>
            <a:lvl3pPr>
              <a:defRPr sz="2400" b="1">
                <a:solidFill>
                  <a:srgbClr val="E8AA64"/>
                </a:solidFill>
              </a:defRPr>
            </a:lvl3pPr>
            <a:lvl4pPr>
              <a:defRPr sz="2400" b="1">
                <a:solidFill>
                  <a:srgbClr val="E8AA64"/>
                </a:solidFill>
              </a:defRPr>
            </a:lvl4pPr>
            <a:lvl5pPr>
              <a:defRPr sz="2400" b="1">
                <a:solidFill>
                  <a:srgbClr val="E8AA64"/>
                </a:solidFill>
              </a:defRPr>
            </a:lvl5pPr>
            <a:lvl6pPr>
              <a:defRPr sz="2400" b="1">
                <a:solidFill>
                  <a:srgbClr val="E8AA64"/>
                </a:solidFill>
              </a:defRPr>
            </a:lvl6pPr>
            <a:lvl7pPr>
              <a:defRPr sz="2400" b="1">
                <a:solidFill>
                  <a:srgbClr val="E8AA64"/>
                </a:solidFill>
              </a:defRPr>
            </a:lvl7pPr>
            <a:lvl8pPr>
              <a:defRPr sz="2400" b="1">
                <a:solidFill>
                  <a:srgbClr val="E8AA64"/>
                </a:solidFill>
              </a:defRPr>
            </a:lvl8pPr>
            <a:lvl9pPr>
              <a:defRPr sz="2400" b="1">
                <a:solidFill>
                  <a:srgbClr val="E8AA64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8AA64"/>
                </a:solidFill>
              </a:defRPr>
            </a:pPr>
            <a:r>
              <a:rPr sz="2400" b="1">
                <a:solidFill>
                  <a:srgbClr val="E8AA64"/>
                </a:solidFill>
              </a:rPr>
              <a:t>The technical combination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2C65E-D0BB-4B41-875A-F2685DE6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91025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defRPr sz="2175" b="0">
                <a:solidFill>
                  <a:srgbClr val="FFFFFF"/>
                </a:solidFill>
              </a:defRPr>
            </a:lvl1pPr>
            <a:lvl2pPr>
              <a:defRPr sz="2175" b="0">
                <a:solidFill>
                  <a:srgbClr val="FFFFFF"/>
                </a:solidFill>
              </a:defRPr>
            </a:lvl2pPr>
            <a:lvl3pPr>
              <a:defRPr sz="2175" b="0">
                <a:solidFill>
                  <a:srgbClr val="FFFFFF"/>
                </a:solidFill>
              </a:defRPr>
            </a:lvl3pPr>
            <a:lvl4pPr>
              <a:defRPr sz="2175" b="0">
                <a:solidFill>
                  <a:srgbClr val="FFFFFF"/>
                </a:solidFill>
              </a:defRPr>
            </a:lvl4pPr>
            <a:lvl5pPr>
              <a:defRPr sz="2175" b="0">
                <a:solidFill>
                  <a:srgbClr val="FFFFFF"/>
                </a:solidFill>
              </a:defRPr>
            </a:lvl5pPr>
            <a:lvl6pPr>
              <a:defRPr sz="2175" b="0">
                <a:solidFill>
                  <a:srgbClr val="FFFFFF"/>
                </a:solidFill>
              </a:defRPr>
            </a:lvl6pPr>
            <a:lvl7pPr>
              <a:defRPr sz="2175" b="0">
                <a:solidFill>
                  <a:srgbClr val="FFFFFF"/>
                </a:solidFill>
              </a:defRPr>
            </a:lvl7pPr>
            <a:lvl8pPr>
              <a:defRPr sz="2175" b="0">
                <a:solidFill>
                  <a:srgbClr val="FFFFFF"/>
                </a:solidFill>
              </a:defRPr>
            </a:lvl8pPr>
            <a:lvl9pPr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Rules own money and policy; AI helps with language and classification; staff own customer contact.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99D64-DFD0-4606-9CDD-23437B79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959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B8CBD1"/>
                </a:solidFill>
              </a:defRPr>
            </a:defPPr>
            <a:lvl1pPr>
              <a:defRPr sz="1425" b="0">
                <a:solidFill>
                  <a:srgbClr val="B8CBD1"/>
                </a:solidFill>
              </a:defRPr>
            </a:lvl1pPr>
            <a:lvl2pPr>
              <a:defRPr sz="1425" b="0">
                <a:solidFill>
                  <a:srgbClr val="B8CBD1"/>
                </a:solidFill>
              </a:defRPr>
            </a:lvl2pPr>
            <a:lvl3pPr>
              <a:defRPr sz="1425" b="0">
                <a:solidFill>
                  <a:srgbClr val="B8CBD1"/>
                </a:solidFill>
              </a:defRPr>
            </a:lvl3pPr>
            <a:lvl4pPr>
              <a:defRPr sz="1425" b="0">
                <a:solidFill>
                  <a:srgbClr val="B8CBD1"/>
                </a:solidFill>
              </a:defRPr>
            </a:lvl4pPr>
            <a:lvl5pPr>
              <a:defRPr sz="1425" b="0">
                <a:solidFill>
                  <a:srgbClr val="B8CBD1"/>
                </a:solidFill>
              </a:defRPr>
            </a:lvl5pPr>
            <a:lvl6pPr>
              <a:defRPr sz="1425" b="0">
                <a:solidFill>
                  <a:srgbClr val="B8CBD1"/>
                </a:solidFill>
              </a:defRPr>
            </a:lvl6pPr>
            <a:lvl7pPr>
              <a:defRPr sz="1425" b="0">
                <a:solidFill>
                  <a:srgbClr val="B8CBD1"/>
                </a:solidFill>
              </a:defRPr>
            </a:lvl7pPr>
            <a:lvl8pPr>
              <a:defRPr sz="1425" b="0">
                <a:solidFill>
                  <a:srgbClr val="B8CBD1"/>
                </a:solidFill>
              </a:defRPr>
            </a:lvl8pPr>
            <a:lvl9pPr>
              <a:defRPr sz="1425" b="0">
                <a:solidFill>
                  <a:srgbClr val="B8CBD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8CBD1"/>
                </a:solidFill>
              </a:defRPr>
            </a:pPr>
            <a:r>
              <a:rPr sz="1425" b="0">
                <a:solidFill>
                  <a:srgbClr val="B8CBD1"/>
                </a:solidFill>
              </a:rPr>
              <a:t>Next proof point: a measured pilot on real, consented cases and document samples.</a:t>
            </a:r>
          </a:p>
        </p:txBody>
      </p:sp>
    </p:spTree>
    <p:extLst>
      <p:ext uri="{BB962C8B-B14F-4D97-AF65-F5344CB8AC3E}">
        <p14:creationId xmlns:p14="http://schemas.microsoft.com/office/powerpoint/2010/main" val="419363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2026-10-24T11:30:41.4100000Z</dcterms:created>
  <dcterms:modified xsi:type="dcterms:W3CDTF">2026-10-24T11:30:41.4100000Z</dcterms:modified>
</coreProperties>
</file>